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12192000"/>
  <p:notesSz cx="6858000" cy="9144000"/>
  <p:embeddedFontLst>
    <p:embeddedFont>
      <p:font typeface="Raleway"/>
      <p:regular r:id="rId27"/>
      <p:bold r:id="rId28"/>
      <p:italic r:id="rId29"/>
      <p:boldItalic r:id="rId30"/>
    </p:embeddedFont>
    <p:embeddedFont>
      <p:font typeface="Roboto Black"/>
      <p:bold r:id="rId31"/>
      <p:boldItalic r:id="rId32"/>
    </p:embeddedFont>
    <p:embeddedFont>
      <p:font typeface="Roboto"/>
      <p:regular r:id="rId33"/>
      <p:bold r:id="rId34"/>
      <p:italic r:id="rId35"/>
      <p:boldItalic r:id="rId36"/>
    </p:embeddedFont>
    <p:embeddedFont>
      <p:font typeface="Roboto Medium"/>
      <p:regular r:id="rId37"/>
      <p:bold r:id="rId38"/>
      <p:italic r:id="rId39"/>
      <p:boldItalic r:id="rId40"/>
    </p:embeddedFont>
    <p:embeddedFont>
      <p:font typeface="Lato"/>
      <p:regular r:id="rId41"/>
      <p:bold r:id="rId42"/>
      <p:italic r:id="rId43"/>
      <p:boldItalic r:id="rId44"/>
    </p:embeddedFont>
    <p:embeddedFont>
      <p:font typeface="Poppins"/>
      <p:regular r:id="rId45"/>
      <p:bold r:id="rId46"/>
      <p:italic r:id="rId47"/>
      <p:boldItalic r:id="rId48"/>
    </p:embeddedFont>
    <p:embeddedFont>
      <p:font typeface="Corbel"/>
      <p:regular r:id="rId49"/>
      <p:bold r:id="rId50"/>
      <p:italic r:id="rId51"/>
      <p:boldItalic r:id="rId52"/>
    </p:embeddedFont>
    <p:embeddedFont>
      <p:font typeface="Baskervville"/>
      <p:regular r:id="rId53"/>
      <p:bold r:id="rId54"/>
      <p:italic r:id="rId55"/>
      <p:boldItalic r:id="rId56"/>
    </p:embeddedFont>
    <p:embeddedFont>
      <p:font typeface="Roboto Light"/>
      <p:regular r:id="rId57"/>
      <p:bold r:id="rId58"/>
      <p:italic r:id="rId59"/>
      <p:boldItalic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840">
          <p15:clr>
            <a:srgbClr val="A4A3A4"/>
          </p15:clr>
        </p15:guide>
        <p15:guide id="2" pos="6816">
          <p15:clr>
            <a:srgbClr val="A4A3A4"/>
          </p15:clr>
        </p15:guide>
        <p15:guide id="3" pos="816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40"/>
        <p:guide pos="6816"/>
        <p:guide pos="816"/>
        <p:guide pos="21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edium-boldItalic.fntdata"/><Relationship Id="rId42" Type="http://schemas.openxmlformats.org/officeDocument/2006/relationships/font" Target="fonts/Lato-bold.fntdata"/><Relationship Id="rId41" Type="http://schemas.openxmlformats.org/officeDocument/2006/relationships/font" Target="fonts/Lato-regular.fntdata"/><Relationship Id="rId44" Type="http://schemas.openxmlformats.org/officeDocument/2006/relationships/font" Target="fonts/Lato-boldItalic.fntdata"/><Relationship Id="rId43" Type="http://schemas.openxmlformats.org/officeDocument/2006/relationships/font" Target="fonts/Lato-italic.fntdata"/><Relationship Id="rId46" Type="http://schemas.openxmlformats.org/officeDocument/2006/relationships/font" Target="fonts/Poppins-bold.fntdata"/><Relationship Id="rId45" Type="http://schemas.openxmlformats.org/officeDocument/2006/relationships/font" Target="fonts/Poppi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Poppins-boldItalic.fntdata"/><Relationship Id="rId47" Type="http://schemas.openxmlformats.org/officeDocument/2006/relationships/font" Target="fonts/Poppins-italic.fntdata"/><Relationship Id="rId49" Type="http://schemas.openxmlformats.org/officeDocument/2006/relationships/font" Target="fonts/Corbel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Black-bold.fntdata"/><Relationship Id="rId30" Type="http://schemas.openxmlformats.org/officeDocument/2006/relationships/font" Target="fonts/Raleway-boldItalic.fntdata"/><Relationship Id="rId33" Type="http://schemas.openxmlformats.org/officeDocument/2006/relationships/font" Target="fonts/Roboto-regular.fntdata"/><Relationship Id="rId32" Type="http://schemas.openxmlformats.org/officeDocument/2006/relationships/font" Target="fonts/RobotoBlack-boldItalic.fntdata"/><Relationship Id="rId35" Type="http://schemas.openxmlformats.org/officeDocument/2006/relationships/font" Target="fonts/Roboto-italic.fntdata"/><Relationship Id="rId34" Type="http://schemas.openxmlformats.org/officeDocument/2006/relationships/font" Target="fonts/Roboto-bold.fntdata"/><Relationship Id="rId37" Type="http://schemas.openxmlformats.org/officeDocument/2006/relationships/font" Target="fonts/RobotoMedium-regular.fntdata"/><Relationship Id="rId36" Type="http://schemas.openxmlformats.org/officeDocument/2006/relationships/font" Target="fonts/Roboto-boldItalic.fntdata"/><Relationship Id="rId39" Type="http://schemas.openxmlformats.org/officeDocument/2006/relationships/font" Target="fonts/RobotoMedium-italic.fntdata"/><Relationship Id="rId38" Type="http://schemas.openxmlformats.org/officeDocument/2006/relationships/font" Target="fonts/RobotoMedium-bold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RobotoLight-bold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aleway-bold.fntdata"/><Relationship Id="rId27" Type="http://schemas.openxmlformats.org/officeDocument/2006/relationships/font" Target="fonts/Raleway-regular.fntdata"/><Relationship Id="rId29" Type="http://schemas.openxmlformats.org/officeDocument/2006/relationships/font" Target="fonts/Raleway-italic.fntdata"/><Relationship Id="rId51" Type="http://schemas.openxmlformats.org/officeDocument/2006/relationships/font" Target="fonts/Corbel-italic.fntdata"/><Relationship Id="rId50" Type="http://schemas.openxmlformats.org/officeDocument/2006/relationships/font" Target="fonts/Corbel-bold.fntdata"/><Relationship Id="rId53" Type="http://schemas.openxmlformats.org/officeDocument/2006/relationships/font" Target="fonts/Baskervville-regular.fntdata"/><Relationship Id="rId52" Type="http://schemas.openxmlformats.org/officeDocument/2006/relationships/font" Target="fonts/Corbel-boldItalic.fntdata"/><Relationship Id="rId11" Type="http://schemas.openxmlformats.org/officeDocument/2006/relationships/slide" Target="slides/slide6.xml"/><Relationship Id="rId55" Type="http://schemas.openxmlformats.org/officeDocument/2006/relationships/font" Target="fonts/Baskervville-italic.fntdata"/><Relationship Id="rId10" Type="http://schemas.openxmlformats.org/officeDocument/2006/relationships/slide" Target="slides/slide5.xml"/><Relationship Id="rId54" Type="http://schemas.openxmlformats.org/officeDocument/2006/relationships/font" Target="fonts/Baskervville-bold.fntdata"/><Relationship Id="rId13" Type="http://schemas.openxmlformats.org/officeDocument/2006/relationships/slide" Target="slides/slide8.xml"/><Relationship Id="rId57" Type="http://schemas.openxmlformats.org/officeDocument/2006/relationships/font" Target="fonts/RobotoLight-regular.fntdata"/><Relationship Id="rId12" Type="http://schemas.openxmlformats.org/officeDocument/2006/relationships/slide" Target="slides/slide7.xml"/><Relationship Id="rId56" Type="http://schemas.openxmlformats.org/officeDocument/2006/relationships/font" Target="fonts/Baskervville-boldItalic.fntdata"/><Relationship Id="rId15" Type="http://schemas.openxmlformats.org/officeDocument/2006/relationships/slide" Target="slides/slide10.xml"/><Relationship Id="rId59" Type="http://schemas.openxmlformats.org/officeDocument/2006/relationships/font" Target="fonts/RobotoLight-italic.fntdata"/><Relationship Id="rId14" Type="http://schemas.openxmlformats.org/officeDocument/2006/relationships/slide" Target="slides/slide9.xml"/><Relationship Id="rId58" Type="http://schemas.openxmlformats.org/officeDocument/2006/relationships/font" Target="fonts/RobotoLight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c35b607eaf_0_2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g3c35b607eaf_0_27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c35b607eaf_0_2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35701d7d6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35701d7d6_0_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g3c35701d7d6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73129f0a1_0_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73129f0a1_0_7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3f73129f0a1_0_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73129f0a1_0_1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73129f0a1_0_15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f73129f0a1_0_1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73129f0a1_0_1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f73129f0a1_0_16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f73129f0a1_0_1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73129f0a1_0_4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f73129f0a1_0_46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f73129f0a1_0_4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73129f0a1_0_26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f73129f0a1_0_2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73129f0a1_0_27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f73129f0a1_0_2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73129f0a1_0_27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f73129f0a1_0_2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73129f0a1_0_28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f73129f0a1_0_2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73129f0a1_0_29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f73129f0a1_0_2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73129f0a1_0_29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f73129f0a1_0_2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73129f0a1_0_31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f73129f0a1_0_3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73129f0a1_0_30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f73129f0a1_0_3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f73129f0a1_0_317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f73129f0a1_0_3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73129f0a1_0_3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f73129f0a1_0_35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f73129f0a1_0_3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f73129f0a1_0_3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f73129f0a1_0_35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f73129f0a1_0_3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f73129f0a1_0_36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f73129f0a1_0_3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c35701d7d6_0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c35701d7d6_0_8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c35701d7d6_0_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661a119ed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f661a119ed_0_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3f661a119ed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f6ea76ad9e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f6ea76ad9e_0_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f6ea76ad9e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" name="Google Shape;16;p2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7" name="Google Shape;17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" name="Google Shape;19;p2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42526"/>
              </a:buClr>
              <a:buSzPts val="5300"/>
              <a:buFont typeface="Roboto"/>
              <a:buNone/>
              <a:defRPr sz="5300">
                <a:solidFill>
                  <a:srgbClr val="B4252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00303"/>
              </a:buClr>
              <a:buSzPts val="2900"/>
              <a:buFont typeface="Roboto"/>
              <a:buNone/>
              <a:defRPr sz="2900">
                <a:solidFill>
                  <a:srgbClr val="B0030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1107200" y="1405133"/>
            <a:ext cx="994500" cy="321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FFFFFF"/>
              </a:solidFill>
            </a:endParaRPr>
          </a:p>
        </p:txBody>
      </p:sp>
      <p:pic>
        <p:nvPicPr>
          <p:cNvPr id="23" name="Google Shape;23;p2"/>
          <p:cNvPicPr preferRelativeResize="0"/>
          <p:nvPr/>
        </p:nvPicPr>
        <p:blipFill rotWithShape="1">
          <a:blip r:embed="rId2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551384" y="116632"/>
            <a:ext cx="11089200" cy="12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551384" y="1556792"/>
            <a:ext cx="11089200" cy="4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SzPts val="3200"/>
              <a:buChar char="●"/>
              <a:defRPr sz="3200"/>
            </a:lvl1pPr>
            <a:lvl2pPr indent="-4318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○"/>
              <a:defRPr sz="3200"/>
            </a:lvl2pPr>
            <a:lvl3pPr indent="-4318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■"/>
              <a:defRPr sz="3200"/>
            </a:lvl3pPr>
            <a:lvl4pPr indent="-4318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●"/>
              <a:defRPr sz="3200"/>
            </a:lvl4pPr>
            <a:lvl5pPr indent="-4318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○"/>
              <a:defRPr sz="3200"/>
            </a:lvl5pPr>
            <a:lvl6pPr indent="-4318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■"/>
              <a:defRPr sz="3200"/>
            </a:lvl6pPr>
            <a:lvl7pPr indent="-4318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●"/>
              <a:defRPr sz="3200"/>
            </a:lvl7pPr>
            <a:lvl8pPr indent="-4318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○"/>
              <a:defRPr sz="3200"/>
            </a:lvl8pPr>
            <a:lvl9pPr indent="-431800" lvl="8" marL="4114800" algn="l">
              <a:lnSpc>
                <a:spcPct val="90000"/>
              </a:lnSpc>
              <a:spcBef>
                <a:spcPts val="2100"/>
              </a:spcBef>
              <a:spcAft>
                <a:spcPts val="2100"/>
              </a:spcAft>
              <a:buClr>
                <a:srgbClr val="272F6D"/>
              </a:buClr>
              <a:buSzPts val="3200"/>
              <a:buChar char="■"/>
              <a:defRPr sz="32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" name="Google Shape;29;p4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30" name="Google Shape;30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318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2400"/>
              <a:buFont typeface="Roboto"/>
              <a:buChar char="○"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1088233" y="1567800"/>
            <a:ext cx="1143600" cy="26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 rotWithShape="1">
          <a:blip r:embed="rId2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(g3f661a119ed_7_0)">
  <p:cSld name="Título e corpo (g3f661a119ed_7_0)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318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2400"/>
              <a:buFont typeface="Roboto"/>
              <a:buChar char="○"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0" name="Google Shape;40;p5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(g3f661a119ed_14_0)">
  <p:cSld name="Título e corpo (g3f661a119ed_14_0)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318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2400"/>
              <a:buFont typeface="Roboto"/>
              <a:buChar char="○"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4" name="Google Shape;44;p6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(g3f73129f0a1_8_0)">
  <p:cSld name="Título e corpo (g3f73129f0a1_8_0)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318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2400"/>
              <a:buFont typeface="Roboto"/>
              <a:buChar char="○"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8" name="Google Shape;48;p7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15600" y="77311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15600" y="1865613"/>
            <a:ext cx="11360700" cy="41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  <a:defRPr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1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nodejs.org/en/download" TargetMode="External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github.com/search?q=landing+page+react+language%3AJavaScript+stars%3A%3E50&amp;type=repositories" TargetMode="External"/><Relationship Id="rId4" Type="http://schemas.openxmlformats.org/officeDocument/2006/relationships/hyperlink" Target="https://vercel.com/templates" TargetMode="External"/><Relationship Id="rId5" Type="http://schemas.openxmlformats.org/officeDocument/2006/relationships/hyperlink" Target="https://codesandbox.io/search?query=landing+page+react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hyperlink" Target="https://codesandbox.io/p/sandbox/github/issaafalkattan/React-Landing-Page-Template/tree/master/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202529"/>
                </a:solidFill>
              </a:rPr>
              <a:t>Gerência de Configuração</a:t>
            </a:r>
            <a:endParaRPr>
              <a:solidFill>
                <a:srgbClr val="202529"/>
              </a:solidFill>
            </a:endParaRPr>
          </a:p>
        </p:txBody>
      </p:sp>
      <p:sp>
        <p:nvSpPr>
          <p:cNvPr id="55" name="Google Shape;55;p8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Prof. Me. Deivison S. Takatu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deivison.takatu@fatec.sp.gov.br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Sumário</a:t>
            </a:r>
            <a:endParaRPr b="1"/>
          </a:p>
        </p:txBody>
      </p:sp>
      <p:sp>
        <p:nvSpPr>
          <p:cNvPr id="62" name="Google Shape;62;p9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O problema - Gerenciar Configuração;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O que é configuração?;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Itens de configuração;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Node.js;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Projetos React;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Pesquisando Template;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Atividade.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" name="Google Shape;69;p10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70" name="Google Shape;70;p1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" name="Google Shape;72;p10"/>
          <p:cNvSpPr/>
          <p:nvPr/>
        </p:nvSpPr>
        <p:spPr>
          <a:xfrm>
            <a:off x="1088233" y="1567800"/>
            <a:ext cx="1143600" cy="26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0"/>
          <p:cNvPicPr preferRelativeResize="0"/>
          <p:nvPr/>
        </p:nvPicPr>
        <p:blipFill rotWithShape="1">
          <a:blip r:embed="rId3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4" name="Google Shape;74;p10"/>
          <p:cNvGrpSpPr/>
          <p:nvPr/>
        </p:nvGrpSpPr>
        <p:grpSpPr>
          <a:xfrm>
            <a:off x="571500" y="2200425"/>
            <a:ext cx="4381500" cy="4143300"/>
            <a:chOff x="571500" y="1714500"/>
            <a:chExt cx="4381500" cy="4143300"/>
          </a:xfrm>
        </p:grpSpPr>
        <p:sp>
          <p:nvSpPr>
            <p:cNvPr id="75" name="Google Shape;75;p10"/>
            <p:cNvSpPr txBox="1"/>
            <p:nvPr/>
          </p:nvSpPr>
          <p:spPr>
            <a:xfrm>
              <a:off x="571500" y="1714500"/>
              <a:ext cx="43815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t-BR" sz="1850">
                  <a:solidFill>
                    <a:srgbClr val="595959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Imagine uma equipe com</a:t>
              </a:r>
              <a:endParaRPr b="0" sz="1850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375"/>
                </a:spcAft>
                <a:buNone/>
              </a:pPr>
              <a:r>
                <a:rPr b="0" lang="pt-BR" sz="7400">
                  <a:latin typeface="Roboto Black"/>
                  <a:ea typeface="Roboto Black"/>
                  <a:cs typeface="Roboto Black"/>
                  <a:sym typeface="Roboto Black"/>
                </a:rPr>
                <a:t>5</a:t>
              </a:r>
              <a:r>
                <a:rPr lang="pt-BR" sz="7400">
                  <a:latin typeface="Roboto Black"/>
                  <a:ea typeface="Roboto Black"/>
                  <a:cs typeface="Roboto Black"/>
                  <a:sym typeface="Roboto Black"/>
                </a:rPr>
                <a:t> </a:t>
              </a:r>
              <a:r>
                <a:rPr b="1" lang="pt-BR" sz="2220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desenvolvedores...</a:t>
              </a:r>
              <a:endParaRPr b="1" sz="222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6" name="Google Shape;76;p10"/>
            <p:cNvSpPr/>
            <p:nvPr/>
          </p:nvSpPr>
          <p:spPr>
            <a:xfrm>
              <a:off x="571500" y="3810000"/>
              <a:ext cx="4381500" cy="2047800"/>
            </a:xfrm>
            <a:prstGeom prst="roundRect">
              <a:avLst>
                <a:gd fmla="val 5581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0"/>
            <p:cNvSpPr txBox="1"/>
            <p:nvPr/>
          </p:nvSpPr>
          <p:spPr>
            <a:xfrm>
              <a:off x="571500" y="3810000"/>
              <a:ext cx="4381500" cy="20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O Desafio:</a:t>
              </a:r>
              <a:endParaRPr b="1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pt-BR" sz="1600">
                  <a:solidFill>
                    <a:srgbClr val="E9EDEE"/>
                  </a:solidFill>
                  <a:latin typeface="Roboto"/>
                  <a:ea typeface="Roboto"/>
                  <a:cs typeface="Roboto"/>
                  <a:sym typeface="Roboto"/>
                </a:rPr>
                <a:t>Como garantir que todos estejam trabalhando exatamente com a mesma configuração?</a:t>
              </a:r>
              <a:endParaRPr b="0" sz="1600">
                <a:solidFill>
                  <a:srgbClr val="E9EDE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78" name="Google Shape;78;p10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problema - Gerenciar Configuração</a:t>
            </a:r>
            <a:endParaRPr/>
          </a:p>
        </p:txBody>
      </p:sp>
      <p:grpSp>
        <p:nvGrpSpPr>
          <p:cNvPr id="79" name="Google Shape;79;p10"/>
          <p:cNvGrpSpPr/>
          <p:nvPr/>
        </p:nvGrpSpPr>
        <p:grpSpPr>
          <a:xfrm>
            <a:off x="5524500" y="2200425"/>
            <a:ext cx="6096000" cy="4143300"/>
            <a:chOff x="5524500" y="1714500"/>
            <a:chExt cx="6096000" cy="4143300"/>
          </a:xfrm>
        </p:grpSpPr>
        <p:sp>
          <p:nvSpPr>
            <p:cNvPr id="80" name="Google Shape;80;p10"/>
            <p:cNvSpPr/>
            <p:nvPr/>
          </p:nvSpPr>
          <p:spPr>
            <a:xfrm>
              <a:off x="5524500" y="1714500"/>
              <a:ext cx="6096000" cy="714300"/>
            </a:xfrm>
            <a:prstGeom prst="roundRect">
              <a:avLst>
                <a:gd fmla="val 10666" name="adj"/>
              </a:avLst>
            </a:prstGeom>
            <a:solidFill>
              <a:srgbClr val="FFFFFF"/>
            </a:solidFill>
            <a:ln cap="flat" cmpd="sng" w="14300">
              <a:solidFill>
                <a:srgbClr val="E9ED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0"/>
            <p:cNvSpPr/>
            <p:nvPr/>
          </p:nvSpPr>
          <p:spPr>
            <a:xfrm>
              <a:off x="5524500" y="1714500"/>
              <a:ext cx="76200" cy="714300"/>
            </a:xfrm>
            <a:prstGeom prst="rect">
              <a:avLst/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0"/>
            <p:cNvSpPr txBox="1"/>
            <p:nvPr/>
          </p:nvSpPr>
          <p:spPr>
            <a:xfrm>
              <a:off x="5762625" y="1714500"/>
              <a:ext cx="56673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t-BR" sz="1600">
                  <a:solidFill>
                    <a:srgbClr val="1A1A1A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Versões diferentes do código</a:t>
              </a:r>
              <a:endParaRPr b="0" sz="1600">
                <a:solidFill>
                  <a:srgbClr val="1A1A1A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83" name="Google Shape;83;p10"/>
            <p:cNvSpPr/>
            <p:nvPr/>
          </p:nvSpPr>
          <p:spPr>
            <a:xfrm>
              <a:off x="5524500" y="2571750"/>
              <a:ext cx="6096000" cy="714300"/>
            </a:xfrm>
            <a:prstGeom prst="roundRect">
              <a:avLst>
                <a:gd fmla="val 10666" name="adj"/>
              </a:avLst>
            </a:prstGeom>
            <a:solidFill>
              <a:srgbClr val="FFFFFF"/>
            </a:solidFill>
            <a:ln cap="flat" cmpd="sng" w="14300">
              <a:solidFill>
                <a:srgbClr val="E9ED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0"/>
            <p:cNvSpPr/>
            <p:nvPr/>
          </p:nvSpPr>
          <p:spPr>
            <a:xfrm>
              <a:off x="5524500" y="2571750"/>
              <a:ext cx="76200" cy="714300"/>
            </a:xfrm>
            <a:prstGeom prst="rect">
              <a:avLst/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4343"/>
                </a:solidFill>
                <a:highlight>
                  <a:srgbClr val="434343"/>
                </a:highlight>
              </a:endParaRPr>
            </a:p>
          </p:txBody>
        </p:sp>
        <p:sp>
          <p:nvSpPr>
            <p:cNvPr id="85" name="Google Shape;85;p10"/>
            <p:cNvSpPr txBox="1"/>
            <p:nvPr/>
          </p:nvSpPr>
          <p:spPr>
            <a:xfrm>
              <a:off x="5762625" y="2571750"/>
              <a:ext cx="56673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t-BR" sz="1600">
                  <a:solidFill>
                    <a:srgbClr val="1A1A1A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Configurações diferentes</a:t>
              </a:r>
              <a:endParaRPr b="0" sz="1600">
                <a:solidFill>
                  <a:srgbClr val="1A1A1A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86" name="Google Shape;86;p10"/>
            <p:cNvSpPr/>
            <p:nvPr/>
          </p:nvSpPr>
          <p:spPr>
            <a:xfrm>
              <a:off x="5524500" y="3429000"/>
              <a:ext cx="6096000" cy="714300"/>
            </a:xfrm>
            <a:prstGeom prst="roundRect">
              <a:avLst>
                <a:gd fmla="val 10666" name="adj"/>
              </a:avLst>
            </a:prstGeom>
            <a:solidFill>
              <a:srgbClr val="FFFFFF"/>
            </a:solidFill>
            <a:ln cap="flat" cmpd="sng" w="14300">
              <a:solidFill>
                <a:srgbClr val="E9ED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0"/>
            <p:cNvSpPr/>
            <p:nvPr/>
          </p:nvSpPr>
          <p:spPr>
            <a:xfrm>
              <a:off x="5524500" y="3429000"/>
              <a:ext cx="76200" cy="714300"/>
            </a:xfrm>
            <a:prstGeom prst="rect">
              <a:avLst/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0"/>
            <p:cNvSpPr txBox="1"/>
            <p:nvPr/>
          </p:nvSpPr>
          <p:spPr>
            <a:xfrm>
              <a:off x="5762625" y="3429000"/>
              <a:ext cx="56673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t-BR" sz="1600">
                  <a:solidFill>
                    <a:srgbClr val="1A1A1A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Bibliotecas em versões diferentes</a:t>
              </a:r>
              <a:endParaRPr b="0" sz="1600">
                <a:solidFill>
                  <a:srgbClr val="1A1A1A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89" name="Google Shape;89;p10"/>
            <p:cNvSpPr/>
            <p:nvPr/>
          </p:nvSpPr>
          <p:spPr>
            <a:xfrm>
              <a:off x="5524500" y="4286250"/>
              <a:ext cx="6096000" cy="714300"/>
            </a:xfrm>
            <a:prstGeom prst="roundRect">
              <a:avLst>
                <a:gd fmla="val 10666" name="adj"/>
              </a:avLst>
            </a:prstGeom>
            <a:solidFill>
              <a:srgbClr val="FFFFFF"/>
            </a:solidFill>
            <a:ln cap="flat" cmpd="sng" w="14300">
              <a:solidFill>
                <a:srgbClr val="E9ED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0"/>
            <p:cNvSpPr/>
            <p:nvPr/>
          </p:nvSpPr>
          <p:spPr>
            <a:xfrm>
              <a:off x="5524500" y="4286250"/>
              <a:ext cx="76200" cy="714300"/>
            </a:xfrm>
            <a:prstGeom prst="rect">
              <a:avLst/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0"/>
            <p:cNvSpPr txBox="1"/>
            <p:nvPr/>
          </p:nvSpPr>
          <p:spPr>
            <a:xfrm>
              <a:off x="5762625" y="4286250"/>
              <a:ext cx="56673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t-BR" sz="1600">
                  <a:solidFill>
                    <a:srgbClr val="1A1A1A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Variáveis de ambiente diferentes</a:t>
              </a:r>
              <a:endParaRPr b="0" sz="1600">
                <a:solidFill>
                  <a:srgbClr val="1A1A1A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92" name="Google Shape;92;p10"/>
            <p:cNvSpPr/>
            <p:nvPr/>
          </p:nvSpPr>
          <p:spPr>
            <a:xfrm>
              <a:off x="5524500" y="5143500"/>
              <a:ext cx="6096000" cy="714300"/>
            </a:xfrm>
            <a:prstGeom prst="roundRect">
              <a:avLst>
                <a:gd fmla="val 10666" name="adj"/>
              </a:avLst>
            </a:prstGeom>
            <a:solidFill>
              <a:srgbClr val="FFFFFF"/>
            </a:solidFill>
            <a:ln cap="flat" cmpd="sng" w="14300">
              <a:solidFill>
                <a:srgbClr val="E9ED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0"/>
            <p:cNvSpPr/>
            <p:nvPr/>
          </p:nvSpPr>
          <p:spPr>
            <a:xfrm>
              <a:off x="5524500" y="5143500"/>
              <a:ext cx="76200" cy="714300"/>
            </a:xfrm>
            <a:prstGeom prst="rect">
              <a:avLst/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0"/>
            <p:cNvSpPr txBox="1"/>
            <p:nvPr/>
          </p:nvSpPr>
          <p:spPr>
            <a:xfrm>
              <a:off x="5762625" y="5143500"/>
              <a:ext cx="56673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t-BR" sz="1600">
                  <a:solidFill>
                    <a:srgbClr val="1A1A1A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Bancos de dados diferentes</a:t>
              </a:r>
              <a:endParaRPr b="0" sz="1600">
                <a:solidFill>
                  <a:srgbClr val="1A1A1A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1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pt-BR" sz="2600"/>
              <a:t>"Na minha máquina funciona!"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pt-BR" sz="2600"/>
              <a:t>Desenvolvimento</a:t>
            </a:r>
            <a:endParaRPr sz="2600"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pt-BR" sz="2600"/>
              <a:t>Código + Node 20 → FUNCIONA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pt-BR" sz="2600"/>
              <a:t>Produção</a:t>
            </a:r>
            <a:endParaRPr sz="2600"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pt-BR" sz="2600"/>
              <a:t>Código + Node 18 → ERRO</a:t>
            </a:r>
            <a:endParaRPr sz="2600"/>
          </a:p>
        </p:txBody>
      </p:sp>
      <p:sp>
        <p:nvSpPr>
          <p:cNvPr id="101" name="Google Shape;101;p11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problema - Gerenciar Configuração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2"/>
          <p:cNvSpPr txBox="1"/>
          <p:nvPr>
            <p:ph idx="1" type="body"/>
          </p:nvPr>
        </p:nvSpPr>
        <p:spPr>
          <a:xfrm>
            <a:off x="459000" y="1982600"/>
            <a:ext cx="5637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45720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/>
              <a:t>Configuração é o conjunto de informações que determina como um sistema deve funcionar.</a:t>
            </a:r>
            <a:endParaRPr sz="2600"/>
          </a:p>
          <a:p>
            <a:pPr indent="-393700" lvl="0" marL="457200" rtl="0" algn="just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2600"/>
              <a:buChar char="●"/>
            </a:pPr>
            <a:r>
              <a:rPr lang="pt-BR" sz="2600"/>
              <a:t>versão da aplicação</a:t>
            </a:r>
            <a:endParaRPr sz="2600"/>
          </a:p>
          <a:p>
            <a:pPr indent="-3937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pt-BR" sz="2600"/>
              <a:t>versão das bibliotecas</a:t>
            </a:r>
            <a:endParaRPr sz="2600"/>
          </a:p>
          <a:p>
            <a:pPr indent="-3937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pt-BR" sz="2600"/>
              <a:t>banco de dados</a:t>
            </a:r>
            <a:endParaRPr sz="2600"/>
          </a:p>
          <a:p>
            <a:pPr indent="-3937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pt-BR" sz="2600"/>
              <a:t>portas</a:t>
            </a:r>
            <a:endParaRPr sz="2600"/>
          </a:p>
          <a:p>
            <a:pPr indent="-3937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pt-BR" sz="2600"/>
              <a:t>URLs</a:t>
            </a:r>
            <a:endParaRPr sz="2600"/>
          </a:p>
          <a:p>
            <a:pPr indent="-3937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pt-BR" sz="2600"/>
              <a:t>variáveis de ambiente</a:t>
            </a:r>
            <a:endParaRPr sz="2600"/>
          </a:p>
          <a:p>
            <a:pPr indent="-3937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pt-BR" sz="2600"/>
              <a:t>parâmetros de execução</a:t>
            </a:r>
            <a:endParaRPr sz="2600"/>
          </a:p>
          <a:p>
            <a:pPr indent="0" lvl="0" marL="0" rtl="0" algn="just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t/>
            </a:r>
            <a:endParaRPr sz="2600"/>
          </a:p>
        </p:txBody>
      </p:sp>
      <p:sp>
        <p:nvSpPr>
          <p:cNvPr id="108" name="Google Shape;108;p12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é configuração?</a:t>
            </a:r>
            <a:endParaRPr/>
          </a:p>
        </p:txBody>
      </p:sp>
      <p:pic>
        <p:nvPicPr>
          <p:cNvPr descr="preencoded.png" id="109" name="Google Shape;10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03675" y="2092375"/>
            <a:ext cx="456250" cy="45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2"/>
          <p:cNvSpPr/>
          <p:nvPr/>
        </p:nvSpPr>
        <p:spPr>
          <a:xfrm>
            <a:off x="7788062" y="2092375"/>
            <a:ext cx="35385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2519"/>
              <a:buFont typeface="Baskervville"/>
              <a:buNone/>
            </a:pPr>
            <a:r>
              <a:rPr b="0" i="0" lang="pt-BR" sz="2519" u="none" cap="none" strike="noStrike">
                <a:solidFill>
                  <a:srgbClr val="6E6666"/>
                </a:solidFill>
                <a:latin typeface="Baskervville"/>
                <a:ea typeface="Baskervville"/>
                <a:cs typeface="Baskervville"/>
                <a:sym typeface="Baskervville"/>
              </a:rPr>
              <a:t>Código</a:t>
            </a:r>
            <a:endParaRPr b="0" i="0" sz="251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2"/>
          <p:cNvSpPr/>
          <p:nvPr/>
        </p:nvSpPr>
        <p:spPr>
          <a:xfrm>
            <a:off x="7788062" y="2611662"/>
            <a:ext cx="35385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1417"/>
              <a:buFont typeface="Poppins"/>
              <a:buNone/>
            </a:pPr>
            <a:r>
              <a:rPr b="0" i="0" lang="pt-BR" sz="1417" u="none" cap="none" strike="noStrike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Versão da aplicação e scripts</a:t>
            </a:r>
            <a:endParaRPr b="0" i="0" sz="141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2" name="Google Shape;11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03675" y="3268624"/>
            <a:ext cx="456250" cy="45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2"/>
          <p:cNvSpPr/>
          <p:nvPr/>
        </p:nvSpPr>
        <p:spPr>
          <a:xfrm>
            <a:off x="7788062" y="3268622"/>
            <a:ext cx="35385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2519"/>
              <a:buFont typeface="Baskervville"/>
              <a:buNone/>
            </a:pPr>
            <a:r>
              <a:rPr b="0" i="0" lang="pt-BR" sz="2519" u="none" cap="none" strike="noStrike">
                <a:solidFill>
                  <a:srgbClr val="6E6666"/>
                </a:solidFill>
                <a:latin typeface="Baskervville"/>
                <a:ea typeface="Baskervville"/>
                <a:cs typeface="Baskervville"/>
                <a:sym typeface="Baskervville"/>
              </a:rPr>
              <a:t>Dependências</a:t>
            </a:r>
            <a:endParaRPr b="0" i="0" sz="251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2"/>
          <p:cNvSpPr/>
          <p:nvPr/>
        </p:nvSpPr>
        <p:spPr>
          <a:xfrm>
            <a:off x="7788062" y="3787909"/>
            <a:ext cx="35385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1417"/>
              <a:buFont typeface="Poppins"/>
              <a:buNone/>
            </a:pPr>
            <a:r>
              <a:rPr b="0" i="0" lang="pt-BR" sz="1417" u="none" cap="none" strike="noStrike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Bibliotecas e suas versões</a:t>
            </a:r>
            <a:endParaRPr b="0" i="0" sz="141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5" name="Google Shape;115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03675" y="4444872"/>
            <a:ext cx="456250" cy="45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2"/>
          <p:cNvSpPr/>
          <p:nvPr/>
        </p:nvSpPr>
        <p:spPr>
          <a:xfrm>
            <a:off x="7788062" y="4444869"/>
            <a:ext cx="35385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2519"/>
              <a:buFont typeface="Baskervville"/>
              <a:buNone/>
            </a:pPr>
            <a:r>
              <a:rPr b="0" i="0" lang="pt-BR" sz="2519" u="none" cap="none" strike="noStrike">
                <a:solidFill>
                  <a:srgbClr val="6E6666"/>
                </a:solidFill>
                <a:latin typeface="Baskervville"/>
                <a:ea typeface="Baskervville"/>
                <a:cs typeface="Baskervville"/>
                <a:sym typeface="Baskervville"/>
              </a:rPr>
              <a:t>Banco de Dados</a:t>
            </a:r>
            <a:endParaRPr b="0" i="0" sz="251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2"/>
          <p:cNvSpPr/>
          <p:nvPr/>
        </p:nvSpPr>
        <p:spPr>
          <a:xfrm>
            <a:off x="7788062" y="4964156"/>
            <a:ext cx="35385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1417"/>
              <a:buFont typeface="Poppins"/>
              <a:buNone/>
            </a:pPr>
            <a:r>
              <a:rPr b="0" i="0" lang="pt-BR" sz="1417" u="none" cap="none" strike="noStrike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Portas, URLs, schemas</a:t>
            </a:r>
            <a:endParaRPr b="0" i="0" sz="141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8" name="Google Shape;118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03675" y="5621121"/>
            <a:ext cx="456250" cy="45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2"/>
          <p:cNvSpPr/>
          <p:nvPr/>
        </p:nvSpPr>
        <p:spPr>
          <a:xfrm>
            <a:off x="7788062" y="5621116"/>
            <a:ext cx="35385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2519"/>
              <a:buFont typeface="Baskervville"/>
              <a:buNone/>
            </a:pPr>
            <a:r>
              <a:rPr b="0" i="0" lang="pt-BR" sz="2519" u="none" cap="none" strike="noStrike">
                <a:solidFill>
                  <a:srgbClr val="6E6666"/>
                </a:solidFill>
                <a:latin typeface="Baskervville"/>
                <a:ea typeface="Baskervville"/>
                <a:cs typeface="Baskervville"/>
                <a:sym typeface="Baskervville"/>
              </a:rPr>
              <a:t>Ambiente</a:t>
            </a:r>
            <a:endParaRPr b="0" i="0" sz="251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2"/>
          <p:cNvSpPr/>
          <p:nvPr/>
        </p:nvSpPr>
        <p:spPr>
          <a:xfrm>
            <a:off x="7788062" y="6140403"/>
            <a:ext cx="35385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1417"/>
              <a:buFont typeface="Poppins"/>
              <a:buNone/>
            </a:pPr>
            <a:r>
              <a:rPr b="0" i="0" lang="pt-BR" sz="1417" u="none" cap="none" strike="noStrike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Variáveis e parâmetros</a:t>
            </a:r>
            <a:endParaRPr b="0" i="0" sz="141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3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Itens de configuração</a:t>
            </a:r>
            <a:endParaRPr/>
          </a:p>
        </p:txBody>
      </p:sp>
      <p:grpSp>
        <p:nvGrpSpPr>
          <p:cNvPr id="127" name="Google Shape;127;p13"/>
          <p:cNvGrpSpPr/>
          <p:nvPr/>
        </p:nvGrpSpPr>
        <p:grpSpPr>
          <a:xfrm>
            <a:off x="457200" y="2000250"/>
            <a:ext cx="3505200" cy="1714500"/>
            <a:chOff x="457200" y="2000250"/>
            <a:chExt cx="3505200" cy="1714500"/>
          </a:xfrm>
        </p:grpSpPr>
        <p:sp>
          <p:nvSpPr>
            <p:cNvPr id="128" name="Google Shape;128;p13"/>
            <p:cNvSpPr/>
            <p:nvPr/>
          </p:nvSpPr>
          <p:spPr>
            <a:xfrm>
              <a:off x="457200" y="2000250"/>
              <a:ext cx="3505200" cy="1714500"/>
            </a:xfrm>
            <a:prstGeom prst="roundRect">
              <a:avLst>
                <a:gd fmla="val 6666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457200" y="2000250"/>
              <a:ext cx="57300" cy="1714500"/>
            </a:xfrm>
            <a:prstGeom prst="roundRect">
              <a:avLst>
                <a:gd fmla="val 50000" name="adj"/>
              </a:avLst>
            </a:prstGeom>
            <a:solidFill>
              <a:srgbClr val="272F6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130" name="Google Shape;130;p13"/>
            <p:cNvSpPr txBox="1"/>
            <p:nvPr/>
          </p:nvSpPr>
          <p:spPr>
            <a:xfrm>
              <a:off x="704850" y="2190750"/>
              <a:ext cx="30672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900">
                  <a:solidFill>
                    <a:srgbClr val="272F6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code</a:t>
              </a:r>
              <a:r>
                <a:rPr b="1" lang="pt-BR" sz="2100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Código</a:t>
              </a:r>
              <a:endParaRPr sz="19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pt-BR" sz="1900">
                  <a:solidFill>
                    <a:srgbClr val="475569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.js • .java • .py</a:t>
              </a:r>
              <a:endParaRPr b="0" sz="1900">
                <a:solidFill>
                  <a:srgbClr val="475569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grpSp>
        <p:nvGrpSpPr>
          <p:cNvPr id="131" name="Google Shape;131;p13"/>
          <p:cNvGrpSpPr/>
          <p:nvPr/>
        </p:nvGrpSpPr>
        <p:grpSpPr>
          <a:xfrm>
            <a:off x="4305300" y="2000250"/>
            <a:ext cx="3505200" cy="1714500"/>
            <a:chOff x="4305300" y="2000250"/>
            <a:chExt cx="3505200" cy="1714500"/>
          </a:xfrm>
        </p:grpSpPr>
        <p:sp>
          <p:nvSpPr>
            <p:cNvPr id="132" name="Google Shape;132;p13"/>
            <p:cNvSpPr/>
            <p:nvPr/>
          </p:nvSpPr>
          <p:spPr>
            <a:xfrm>
              <a:off x="4305300" y="2000250"/>
              <a:ext cx="3505200" cy="1714500"/>
            </a:xfrm>
            <a:prstGeom prst="roundRect">
              <a:avLst>
                <a:gd fmla="val 6666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4305300" y="2000250"/>
              <a:ext cx="57300" cy="1714500"/>
            </a:xfrm>
            <a:prstGeom prst="roundRect">
              <a:avLst>
                <a:gd fmla="val 50000" name="adj"/>
              </a:avLst>
            </a:prstGeom>
            <a:solidFill>
              <a:srgbClr val="272F6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134" name="Google Shape;134;p13"/>
            <p:cNvSpPr txBox="1"/>
            <p:nvPr/>
          </p:nvSpPr>
          <p:spPr>
            <a:xfrm>
              <a:off x="4552950" y="2190750"/>
              <a:ext cx="30672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900">
                  <a:solidFill>
                    <a:srgbClr val="272F6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inventory_2</a:t>
              </a:r>
              <a:r>
                <a:rPr b="1" lang="pt-BR" sz="2100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Dependências</a:t>
              </a:r>
              <a:endParaRPr sz="19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pt-BR" sz="1900">
                  <a:solidFill>
                    <a:srgbClr val="475569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package.json • pom.xml</a:t>
              </a:r>
              <a:endParaRPr b="0" sz="1900">
                <a:solidFill>
                  <a:srgbClr val="475569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grpSp>
        <p:nvGrpSpPr>
          <p:cNvPr id="135" name="Google Shape;135;p13"/>
          <p:cNvGrpSpPr/>
          <p:nvPr/>
        </p:nvGrpSpPr>
        <p:grpSpPr>
          <a:xfrm>
            <a:off x="8153400" y="2000250"/>
            <a:ext cx="3505200" cy="1714500"/>
            <a:chOff x="8153400" y="2000250"/>
            <a:chExt cx="3505200" cy="1714500"/>
          </a:xfrm>
        </p:grpSpPr>
        <p:sp>
          <p:nvSpPr>
            <p:cNvPr id="136" name="Google Shape;136;p13"/>
            <p:cNvSpPr/>
            <p:nvPr/>
          </p:nvSpPr>
          <p:spPr>
            <a:xfrm>
              <a:off x="8153400" y="2000250"/>
              <a:ext cx="3505200" cy="1714500"/>
            </a:xfrm>
            <a:prstGeom prst="roundRect">
              <a:avLst>
                <a:gd fmla="val 6666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137" name="Google Shape;137;p13"/>
            <p:cNvSpPr/>
            <p:nvPr/>
          </p:nvSpPr>
          <p:spPr>
            <a:xfrm>
              <a:off x="8153400" y="2000250"/>
              <a:ext cx="57300" cy="1714500"/>
            </a:xfrm>
            <a:prstGeom prst="roundRect">
              <a:avLst>
                <a:gd fmla="val 50000" name="adj"/>
              </a:avLst>
            </a:prstGeom>
            <a:solidFill>
              <a:srgbClr val="272F6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138" name="Google Shape;138;p13"/>
            <p:cNvSpPr txBox="1"/>
            <p:nvPr/>
          </p:nvSpPr>
          <p:spPr>
            <a:xfrm>
              <a:off x="8401050" y="2190750"/>
              <a:ext cx="30672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900">
                  <a:solidFill>
                    <a:srgbClr val="272F6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tune</a:t>
              </a:r>
              <a:r>
                <a:rPr b="1" lang="pt-BR" sz="2100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Configurações</a:t>
              </a:r>
              <a:endParaRPr sz="19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pt-BR" sz="1900">
                  <a:solidFill>
                    <a:srgbClr val="475569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.env • YAML • JSON</a:t>
              </a:r>
              <a:endParaRPr b="0" sz="1900">
                <a:solidFill>
                  <a:srgbClr val="475569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grpSp>
        <p:nvGrpSpPr>
          <p:cNvPr id="139" name="Google Shape;139;p13"/>
          <p:cNvGrpSpPr/>
          <p:nvPr/>
        </p:nvGrpSpPr>
        <p:grpSpPr>
          <a:xfrm>
            <a:off x="457200" y="4000500"/>
            <a:ext cx="3505200" cy="1714500"/>
            <a:chOff x="457200" y="4000500"/>
            <a:chExt cx="3505200" cy="1714500"/>
          </a:xfrm>
        </p:grpSpPr>
        <p:sp>
          <p:nvSpPr>
            <p:cNvPr id="140" name="Google Shape;140;p13"/>
            <p:cNvSpPr/>
            <p:nvPr/>
          </p:nvSpPr>
          <p:spPr>
            <a:xfrm>
              <a:off x="457200" y="4000500"/>
              <a:ext cx="3505200" cy="1714500"/>
            </a:xfrm>
            <a:prstGeom prst="roundRect">
              <a:avLst>
                <a:gd fmla="val 6666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457200" y="4000500"/>
              <a:ext cx="57300" cy="1714500"/>
            </a:xfrm>
            <a:prstGeom prst="roundRect">
              <a:avLst>
                <a:gd fmla="val 50000" name="adj"/>
              </a:avLst>
            </a:prstGeom>
            <a:solidFill>
              <a:srgbClr val="272F6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142" name="Google Shape;142;p13"/>
            <p:cNvSpPr txBox="1"/>
            <p:nvPr/>
          </p:nvSpPr>
          <p:spPr>
            <a:xfrm>
              <a:off x="704850" y="4191000"/>
              <a:ext cx="30672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900">
                  <a:solidFill>
                    <a:srgbClr val="272F6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storage</a:t>
              </a:r>
              <a:r>
                <a:rPr b="1" lang="pt-BR" sz="2100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Banco</a:t>
              </a:r>
              <a:endParaRPr sz="19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pt-BR" sz="1900">
                  <a:solidFill>
                    <a:srgbClr val="475569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scripts SQL</a:t>
              </a:r>
              <a:endParaRPr b="0" sz="1900">
                <a:solidFill>
                  <a:srgbClr val="475569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grpSp>
        <p:nvGrpSpPr>
          <p:cNvPr id="143" name="Google Shape;143;p13"/>
          <p:cNvGrpSpPr/>
          <p:nvPr/>
        </p:nvGrpSpPr>
        <p:grpSpPr>
          <a:xfrm>
            <a:off x="4305300" y="4000500"/>
            <a:ext cx="3505200" cy="1714500"/>
            <a:chOff x="4305300" y="4000500"/>
            <a:chExt cx="3505200" cy="1714500"/>
          </a:xfrm>
        </p:grpSpPr>
        <p:sp>
          <p:nvSpPr>
            <p:cNvPr id="144" name="Google Shape;144;p13"/>
            <p:cNvSpPr/>
            <p:nvPr/>
          </p:nvSpPr>
          <p:spPr>
            <a:xfrm>
              <a:off x="4305300" y="4000500"/>
              <a:ext cx="3505200" cy="1714500"/>
            </a:xfrm>
            <a:prstGeom prst="roundRect">
              <a:avLst>
                <a:gd fmla="val 6666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145" name="Google Shape;145;p13"/>
            <p:cNvSpPr/>
            <p:nvPr/>
          </p:nvSpPr>
          <p:spPr>
            <a:xfrm>
              <a:off x="4305300" y="4000500"/>
              <a:ext cx="57300" cy="1714500"/>
            </a:xfrm>
            <a:prstGeom prst="roundRect">
              <a:avLst>
                <a:gd fmla="val 50000" name="adj"/>
              </a:avLst>
            </a:prstGeom>
            <a:solidFill>
              <a:srgbClr val="272F6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146" name="Google Shape;146;p13"/>
            <p:cNvSpPr txBox="1"/>
            <p:nvPr/>
          </p:nvSpPr>
          <p:spPr>
            <a:xfrm>
              <a:off x="4552950" y="4191000"/>
              <a:ext cx="30672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900">
                  <a:solidFill>
                    <a:srgbClr val="272F6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cloud</a:t>
              </a:r>
              <a:r>
                <a:rPr b="1" lang="pt-BR" sz="2100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Infraestrutura</a:t>
              </a:r>
              <a:endParaRPr sz="19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pt-BR" sz="1900">
                  <a:solidFill>
                    <a:srgbClr val="475569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Docker • Terraform</a:t>
              </a:r>
              <a:endParaRPr b="0" sz="1900">
                <a:solidFill>
                  <a:srgbClr val="475569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grpSp>
        <p:nvGrpSpPr>
          <p:cNvPr id="147" name="Google Shape;147;p13"/>
          <p:cNvGrpSpPr/>
          <p:nvPr/>
        </p:nvGrpSpPr>
        <p:grpSpPr>
          <a:xfrm>
            <a:off x="8153400" y="4000500"/>
            <a:ext cx="3505200" cy="1714500"/>
            <a:chOff x="8153400" y="4000500"/>
            <a:chExt cx="3505200" cy="1714500"/>
          </a:xfrm>
        </p:grpSpPr>
        <p:sp>
          <p:nvSpPr>
            <p:cNvPr id="148" name="Google Shape;148;p13"/>
            <p:cNvSpPr/>
            <p:nvPr/>
          </p:nvSpPr>
          <p:spPr>
            <a:xfrm>
              <a:off x="8153400" y="4000500"/>
              <a:ext cx="3505200" cy="1714500"/>
            </a:xfrm>
            <a:prstGeom prst="roundRect">
              <a:avLst>
                <a:gd fmla="val 6666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149" name="Google Shape;149;p13"/>
            <p:cNvSpPr/>
            <p:nvPr/>
          </p:nvSpPr>
          <p:spPr>
            <a:xfrm>
              <a:off x="8153400" y="4000500"/>
              <a:ext cx="57300" cy="1714500"/>
            </a:xfrm>
            <a:prstGeom prst="roundRect">
              <a:avLst>
                <a:gd fmla="val 50000" name="adj"/>
              </a:avLst>
            </a:prstGeom>
            <a:solidFill>
              <a:srgbClr val="272F6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150" name="Google Shape;150;p13"/>
            <p:cNvSpPr txBox="1"/>
            <p:nvPr/>
          </p:nvSpPr>
          <p:spPr>
            <a:xfrm>
              <a:off x="8401050" y="4191000"/>
              <a:ext cx="30672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700">
                  <a:solidFill>
                    <a:srgbClr val="272F6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description</a:t>
              </a:r>
              <a:r>
                <a:rPr b="1" lang="pt-BR" sz="1900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Doc. e Scripts</a:t>
              </a:r>
              <a:endParaRPr sz="19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pt-BR" sz="1800">
                  <a:solidFill>
                    <a:srgbClr val="475569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README • build</a:t>
              </a:r>
              <a:br>
                <a:rPr b="0" lang="pt-BR" sz="1800">
                  <a:solidFill>
                    <a:srgbClr val="475569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</a:br>
              <a:r>
                <a:rPr b="0" lang="pt-BR" sz="1800">
                  <a:solidFill>
                    <a:srgbClr val="475569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test • deploy</a:t>
              </a:r>
              <a:endParaRPr b="0" sz="1800">
                <a:solidFill>
                  <a:srgbClr val="475569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4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600"/>
              <a:t>Instalando o Node.js</a:t>
            </a:r>
            <a:endParaRPr b="1" sz="4600"/>
          </a:p>
        </p:txBody>
      </p:sp>
      <p:sp>
        <p:nvSpPr>
          <p:cNvPr id="156" name="Google Shape;156;p14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/>
          </a:bodyPr>
          <a:lstStyle/>
          <a:p>
            <a:pPr indent="-36639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lang="pt-BR"/>
              <a:t>Node.js é um ambiente de execução JavaScript que permite a execução de código no backend, ou seja, no servidor. Em vez de gerar diretamente conteúdo HTML, ele atua como um serviço para atender às requisições de uma aplicação.</a:t>
            </a:r>
            <a:endParaRPr/>
          </a:p>
          <a:p>
            <a:pPr indent="-36639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lang="pt-BR"/>
              <a:t>Com o Node.js, é possível utilizar a mesma linguagem, JavaScript, tanto no servidor quanto no navegador. Isso possibilita uma maior integração entre o frontend e o backend, tornando o desenvolvimento mais eficiente e unificado.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5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600"/>
              <a:t>Instalando o Node.js</a:t>
            </a:r>
            <a:endParaRPr b="1" sz="4600"/>
          </a:p>
        </p:txBody>
      </p:sp>
      <p:sp>
        <p:nvSpPr>
          <p:cNvPr id="162" name="Google Shape;162;p15"/>
          <p:cNvSpPr txBox="1"/>
          <p:nvPr/>
        </p:nvSpPr>
        <p:spPr>
          <a:xfrm>
            <a:off x="3251125" y="6104523"/>
            <a:ext cx="5689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272F6D"/>
                </a:solidFill>
                <a:latin typeface="Calibri"/>
                <a:ea typeface="Calibri"/>
                <a:cs typeface="Calibri"/>
                <a:sym typeface="Calibri"/>
              </a:rPr>
              <a:t>Fonte: </a:t>
            </a:r>
            <a:r>
              <a:rPr b="1" lang="pt-BR" sz="1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https://nodejs.org/en/download</a:t>
            </a:r>
            <a:endParaRPr sz="1600">
              <a:solidFill>
                <a:srgbClr val="272F6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93550" y="1986500"/>
            <a:ext cx="6004899" cy="411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6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600"/>
              <a:t>Instalando o Node.js</a:t>
            </a:r>
            <a:endParaRPr b="1" sz="4600"/>
          </a:p>
        </p:txBody>
      </p:sp>
      <p:sp>
        <p:nvSpPr>
          <p:cNvPr id="169" name="Google Shape;169;p16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9306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lang="pt-BR"/>
              <a:t>Escolha a versão do seu sistema operacional</a:t>
            </a:r>
            <a:endParaRPr/>
          </a:p>
          <a:p>
            <a:pPr indent="-39306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lang="pt-BR"/>
              <a:t>Baixe e execute o instalador</a:t>
            </a:r>
            <a:endParaRPr/>
          </a:p>
          <a:p>
            <a:pPr indent="-39306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lang="pt-BR"/>
              <a:t>Siga as etapas "Next &gt; Next &gt; Install"</a:t>
            </a:r>
            <a:endParaRPr/>
          </a:p>
          <a:p>
            <a:pPr indent="-39306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lang="pt-BR"/>
              <a:t>Para testar a instalação:</a:t>
            </a:r>
            <a:endParaRPr/>
          </a:p>
          <a:p>
            <a:pPr indent="-39306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6667"/>
              <a:buChar char="○"/>
            </a:pPr>
            <a:r>
              <a:rPr lang="pt-BR"/>
              <a:t>Abra o Prompt de Comando</a:t>
            </a:r>
            <a:endParaRPr/>
          </a:p>
          <a:p>
            <a:pPr indent="-39306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6667"/>
              <a:buChar char="○"/>
            </a:pPr>
            <a:r>
              <a:rPr lang="pt-BR"/>
              <a:t>Digite node --version</a:t>
            </a:r>
            <a:endParaRPr/>
          </a:p>
          <a:p>
            <a:pPr indent="-39306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6667"/>
              <a:buChar char="○"/>
            </a:pPr>
            <a:r>
              <a:rPr lang="pt-BR"/>
              <a:t>Se aparecer a versão instalada, está correto</a:t>
            </a:r>
            <a:endParaRPr/>
          </a:p>
        </p:txBody>
      </p:sp>
      <p:sp>
        <p:nvSpPr>
          <p:cNvPr id="170" name="Google Shape;170;p16"/>
          <p:cNvSpPr txBox="1"/>
          <p:nvPr/>
        </p:nvSpPr>
        <p:spPr>
          <a:xfrm>
            <a:off x="6502188" y="5919998"/>
            <a:ext cx="5689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272F6D"/>
                </a:solidFill>
                <a:latin typeface="Calibri"/>
                <a:ea typeface="Calibri"/>
                <a:cs typeface="Calibri"/>
                <a:sym typeface="Calibri"/>
              </a:rPr>
              <a:t>Fonte: </a:t>
            </a:r>
            <a:r>
              <a:rPr lang="pt-BR" sz="1600">
                <a:solidFill>
                  <a:srgbClr val="272F6D"/>
                </a:solidFill>
                <a:latin typeface="Calibri"/>
                <a:ea typeface="Calibri"/>
                <a:cs typeface="Calibri"/>
                <a:sym typeface="Calibri"/>
              </a:rPr>
              <a:t>Elaboração própria.</a:t>
            </a:r>
            <a:endParaRPr sz="1600">
              <a:solidFill>
                <a:srgbClr val="272F6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4613" y="2717400"/>
            <a:ext cx="4084975" cy="318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600"/>
              <a:t>Node Package Manager (NPM)</a:t>
            </a:r>
            <a:endParaRPr b="1" sz="4600"/>
          </a:p>
        </p:txBody>
      </p:sp>
      <p:sp>
        <p:nvSpPr>
          <p:cNvPr id="177" name="Google Shape;177;p17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10000"/>
          </a:bodyPr>
          <a:lstStyle/>
          <a:p>
            <a:pPr indent="-339725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224000"/>
              <a:buChar char="●"/>
            </a:pPr>
            <a:r>
              <a:rPr lang="pt-BR"/>
              <a:t>O NPM (Node Package Manager) é o gerenciador de pacotes do Node.js, instalado automaticamente com ele. Ele facilita a instalação, atualização e remoção de bibliotecas e frameworks JavaScript, além de permitir a criação e compartilhamento de módulos públicos ou privados. Com o NPM, todas as dependências do projeto são gerenciadas de forma automatizada, evitando a necessidade de downloads manuais.</a:t>
            </a:r>
            <a:endParaRPr sz="1250"/>
          </a:p>
          <a:p>
            <a:pPr indent="-339725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lang="pt-BR"/>
              <a:t>Um dos principais recursos do NPM é o package.json, que registra todas as dependências do projeto. Isso simplifica a colaboração entre desenvolvedores, pois basta rodar npm install para baixar automaticamente todos os pacotes necessários. Dessa forma, o NPM melhora a organização, a eficiência e a escalabilidade dos projetos.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600"/>
              <a:t>Criando um Projeto React</a:t>
            </a:r>
            <a:endParaRPr b="1" sz="4600"/>
          </a:p>
        </p:txBody>
      </p:sp>
      <p:sp>
        <p:nvSpPr>
          <p:cNvPr id="183" name="Google Shape;183;p18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5306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lang="pt-BR"/>
              <a:t>O comando </a:t>
            </a:r>
            <a:r>
              <a:rPr b="1" i="1" lang="pt-BR"/>
              <a:t>npx create-react-app &lt;nome&gt;</a:t>
            </a:r>
            <a:r>
              <a:rPr lang="pt-BR"/>
              <a:t> é usado para criar um novo projeto React com uma configuração inicial pronta para desenvolvimento.</a:t>
            </a:r>
            <a:endParaRPr/>
          </a:p>
          <a:p>
            <a:pPr indent="-35306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lang="pt-BR"/>
              <a:t>Criará uma nova aplicação React com toda a estrutura de arquivos e configurações necessárias, incluindo:</a:t>
            </a:r>
            <a:endParaRPr/>
          </a:p>
          <a:p>
            <a:pPr indent="-35306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6667"/>
              <a:buChar char="○"/>
            </a:pPr>
            <a:r>
              <a:rPr lang="pt-BR"/>
              <a:t>Sistema de build com Webpack</a:t>
            </a:r>
            <a:endParaRPr/>
          </a:p>
          <a:p>
            <a:pPr indent="-35306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6667"/>
              <a:buChar char="○"/>
            </a:pPr>
            <a:r>
              <a:rPr lang="pt-BR"/>
              <a:t>Babel para transpilar JavaScript moderno</a:t>
            </a:r>
            <a:endParaRPr/>
          </a:p>
          <a:p>
            <a:pPr indent="-35306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6667"/>
              <a:buChar char="○"/>
            </a:pPr>
            <a:r>
              <a:rPr lang="pt-BR"/>
              <a:t>Ambiente de desenvolvimento com servidor local</a:t>
            </a:r>
            <a:endParaRPr/>
          </a:p>
          <a:p>
            <a:pPr indent="-35306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6667"/>
              <a:buChar char="○"/>
            </a:pPr>
            <a:r>
              <a:rPr lang="pt-BR"/>
              <a:t>Scripts prontos para build e teste</a:t>
            </a:r>
            <a:endParaRPr/>
          </a:p>
          <a:p>
            <a:pPr indent="-35306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6667"/>
              <a:buChar char="○"/>
            </a:pPr>
            <a:r>
              <a:rPr lang="pt-BR"/>
              <a:t>Estrutura básica de pastas</a:t>
            </a: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7419175" y="3746500"/>
            <a:ext cx="3693000" cy="18852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alibri"/>
                <a:ea typeface="Calibri"/>
                <a:cs typeface="Calibri"/>
                <a:sym typeface="Calibri"/>
              </a:rPr>
              <a:t>npx é um executador de pacotes npm que vem com o Node.js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alibri"/>
                <a:ea typeface="Calibri"/>
                <a:cs typeface="Calibri"/>
                <a:sym typeface="Calibri"/>
              </a:rPr>
              <a:t>create-react-app é um pacote oficial do React que gera o projeto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 txBox="1"/>
          <p:nvPr/>
        </p:nvSpPr>
        <p:spPr>
          <a:xfrm>
            <a:off x="5130600" y="6251698"/>
            <a:ext cx="5689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272F6D"/>
                </a:solidFill>
                <a:latin typeface="Calibri"/>
                <a:ea typeface="Calibri"/>
                <a:cs typeface="Calibri"/>
                <a:sym typeface="Calibri"/>
              </a:rPr>
              <a:t>Referências</a:t>
            </a:r>
            <a:r>
              <a:rPr lang="pt-BR" sz="1600">
                <a:solidFill>
                  <a:srgbClr val="272F6D"/>
                </a:solidFill>
                <a:latin typeface="Calibri"/>
                <a:ea typeface="Calibri"/>
                <a:cs typeface="Calibri"/>
                <a:sym typeface="Calibri"/>
              </a:rPr>
              <a:t>: Banks, A.; Porcello, E. (2017).</a:t>
            </a:r>
            <a:endParaRPr sz="1600">
              <a:solidFill>
                <a:srgbClr val="272F6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9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600"/>
              <a:t>Criando um Projeto React</a:t>
            </a:r>
            <a:endParaRPr b="1" sz="4600"/>
          </a:p>
        </p:txBody>
      </p:sp>
      <p:sp>
        <p:nvSpPr>
          <p:cNvPr id="191" name="Google Shape;191;p19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6639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lang="pt-BR"/>
              <a:t># Passo 1: Criar o projeto React</a:t>
            </a:r>
            <a:endParaRPr/>
          </a:p>
          <a:p>
            <a:pPr indent="-36639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6667"/>
              <a:buChar char="○"/>
            </a:pPr>
            <a:r>
              <a:rPr lang="pt-BR"/>
              <a:t>npx create-react-app meu-projeto-react</a:t>
            </a:r>
            <a:endParaRPr/>
          </a:p>
          <a:p>
            <a:pPr indent="-36639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lang="pt-BR"/>
              <a:t># Passo 2: Navegar para a pasta do projeto</a:t>
            </a:r>
            <a:endParaRPr/>
          </a:p>
          <a:p>
            <a:pPr indent="-36639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6667"/>
              <a:buChar char="○"/>
            </a:pPr>
            <a:r>
              <a:rPr lang="pt-BR"/>
              <a:t>cd meu-projeto-react</a:t>
            </a:r>
            <a:endParaRPr/>
          </a:p>
          <a:p>
            <a:pPr indent="-36639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lang="pt-BR"/>
              <a:t># Passo 3: Abrir o VS Code na pasta do projeto (se ainda não estiver aberto)</a:t>
            </a:r>
            <a:endParaRPr/>
          </a:p>
          <a:p>
            <a:pPr indent="-36639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6667"/>
              <a:buChar char="○"/>
            </a:pPr>
            <a:r>
              <a:rPr lang="pt-BR"/>
              <a:t>code .</a:t>
            </a:r>
            <a:endParaRPr/>
          </a:p>
          <a:p>
            <a:pPr indent="-36639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lang="pt-BR"/>
              <a:t># Passo 4: Inicie o servidor local para visualizar o projeto no navegador</a:t>
            </a:r>
            <a:endParaRPr/>
          </a:p>
          <a:p>
            <a:pPr indent="-36639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6667"/>
              <a:buChar char="○"/>
            </a:pPr>
            <a:r>
              <a:rPr lang="pt-BR"/>
              <a:t>npm start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600"/>
              <a:t>Criando um Projeto React</a:t>
            </a:r>
            <a:endParaRPr b="1" sz="4600"/>
          </a:p>
        </p:txBody>
      </p:sp>
      <p:sp>
        <p:nvSpPr>
          <p:cNvPr id="197" name="Google Shape;197;p20"/>
          <p:cNvSpPr txBox="1"/>
          <p:nvPr/>
        </p:nvSpPr>
        <p:spPr>
          <a:xfrm>
            <a:off x="7480688" y="5014923"/>
            <a:ext cx="5689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272F6D"/>
                </a:solidFill>
                <a:latin typeface="Calibri"/>
                <a:ea typeface="Calibri"/>
                <a:cs typeface="Calibri"/>
                <a:sym typeface="Calibri"/>
              </a:rPr>
              <a:t>Fonte: </a:t>
            </a:r>
            <a:r>
              <a:rPr lang="pt-BR" sz="1600">
                <a:solidFill>
                  <a:srgbClr val="272F6D"/>
                </a:solidFill>
                <a:latin typeface="Calibri"/>
                <a:ea typeface="Calibri"/>
                <a:cs typeface="Calibri"/>
                <a:sym typeface="Calibri"/>
              </a:rPr>
              <a:t>Elaboração própria.</a:t>
            </a:r>
            <a:endParaRPr sz="1600">
              <a:solidFill>
                <a:srgbClr val="272F6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/>
          </a:bodyPr>
          <a:lstStyle/>
          <a:p>
            <a:pPr indent="-3397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b="1" lang="pt-BR"/>
              <a:t>Pasta node_modules</a:t>
            </a:r>
            <a:endParaRPr b="1"/>
          </a:p>
          <a:p>
            <a:pPr indent="-33972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6667"/>
              <a:buChar char="○"/>
            </a:pPr>
            <a:r>
              <a:rPr lang="pt-BR"/>
              <a:t>Contém os pacotes instalados (bibliotecas JS) npm i (install) para instalar as dependências do projeto</a:t>
            </a:r>
            <a:endParaRPr/>
          </a:p>
          <a:p>
            <a:pPr indent="-3397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b="1" lang="pt-BR"/>
              <a:t>Pasta public</a:t>
            </a:r>
            <a:endParaRPr b="1"/>
          </a:p>
          <a:p>
            <a:pPr indent="-33972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6667"/>
              <a:buChar char="○"/>
            </a:pPr>
            <a:r>
              <a:rPr lang="pt-BR"/>
              <a:t>Contém arquivo HTML, JSON, imagens</a:t>
            </a:r>
            <a:endParaRPr/>
          </a:p>
          <a:p>
            <a:pPr indent="-3397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b="1" lang="pt-BR"/>
              <a:t>Pasta src</a:t>
            </a:r>
            <a:endParaRPr b="1"/>
          </a:p>
          <a:p>
            <a:pPr indent="-33972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6667"/>
              <a:buChar char="○"/>
            </a:pPr>
            <a:r>
              <a:rPr lang="pt-BR"/>
              <a:t>Contém arquivos JS React do seu projeto</a:t>
            </a:r>
            <a:endParaRPr/>
          </a:p>
          <a:p>
            <a:pPr indent="-339725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lang="pt-BR"/>
              <a:t>O arquivo </a:t>
            </a:r>
            <a:r>
              <a:rPr b="1" lang="pt-BR"/>
              <a:t>.gitignore</a:t>
            </a:r>
            <a:r>
              <a:rPr lang="pt-BR"/>
              <a:t> contém a definição dos arquivos (como senhas) e diretórios que devem ser ignorados pelo Git. Já o </a:t>
            </a:r>
            <a:r>
              <a:rPr b="1" lang="pt-BR"/>
              <a:t>package.json</a:t>
            </a:r>
            <a:r>
              <a:rPr lang="pt-BR"/>
              <a:t> e o </a:t>
            </a:r>
            <a:r>
              <a:rPr b="1" lang="pt-BR"/>
              <a:t>package-lock.json</a:t>
            </a:r>
            <a:r>
              <a:rPr lang="pt-BR"/>
              <a:t> contém informações e comandos necessários para a configuração do projeto, incluindo os dados sobre as dependências dos pacotes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600"/>
              <a:t>Criando um Projeto React</a:t>
            </a:r>
            <a:endParaRPr b="1" sz="4600"/>
          </a:p>
        </p:txBody>
      </p:sp>
      <p:pic>
        <p:nvPicPr>
          <p:cNvPr id="204" name="Google Shape;20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7925" y="3070182"/>
            <a:ext cx="3448050" cy="165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6075" y="1996171"/>
            <a:ext cx="6297401" cy="3994553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1209875" y="5990723"/>
            <a:ext cx="5689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272F6D"/>
                </a:solidFill>
                <a:latin typeface="Calibri"/>
                <a:ea typeface="Calibri"/>
                <a:cs typeface="Calibri"/>
                <a:sym typeface="Calibri"/>
              </a:rPr>
              <a:t>Fonte: </a:t>
            </a:r>
            <a:r>
              <a:rPr lang="pt-BR" sz="1600">
                <a:solidFill>
                  <a:srgbClr val="272F6D"/>
                </a:solidFill>
                <a:latin typeface="Calibri"/>
                <a:ea typeface="Calibri"/>
                <a:cs typeface="Calibri"/>
                <a:sym typeface="Calibri"/>
              </a:rPr>
              <a:t>Elaboração própria.</a:t>
            </a:r>
            <a:endParaRPr sz="1600">
              <a:solidFill>
                <a:srgbClr val="272F6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7037038" y="4727523"/>
            <a:ext cx="5689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272F6D"/>
                </a:solidFill>
                <a:latin typeface="Calibri"/>
                <a:ea typeface="Calibri"/>
                <a:cs typeface="Calibri"/>
                <a:sym typeface="Calibri"/>
              </a:rPr>
              <a:t>Fonte: </a:t>
            </a:r>
            <a:r>
              <a:rPr lang="pt-BR" sz="1600">
                <a:solidFill>
                  <a:srgbClr val="272F6D"/>
                </a:solidFill>
                <a:latin typeface="Calibri"/>
                <a:ea typeface="Calibri"/>
                <a:cs typeface="Calibri"/>
                <a:sym typeface="Calibri"/>
              </a:rPr>
              <a:t>Elaboração própria.</a:t>
            </a:r>
            <a:endParaRPr sz="1600">
              <a:solidFill>
                <a:srgbClr val="272F6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2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600"/>
              <a:t>Criando um Projeto React</a:t>
            </a:r>
            <a:endParaRPr b="1" sz="4600"/>
          </a:p>
        </p:txBody>
      </p:sp>
      <p:pic>
        <p:nvPicPr>
          <p:cNvPr id="213" name="Google Shape;21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54050" y="1843095"/>
            <a:ext cx="1943100" cy="317182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7480688" y="5014923"/>
            <a:ext cx="5689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272F6D"/>
                </a:solidFill>
                <a:latin typeface="Calibri"/>
                <a:ea typeface="Calibri"/>
                <a:cs typeface="Calibri"/>
                <a:sym typeface="Calibri"/>
              </a:rPr>
              <a:t>Fonte: </a:t>
            </a:r>
            <a:r>
              <a:rPr lang="pt-BR" sz="1600">
                <a:solidFill>
                  <a:srgbClr val="272F6D"/>
                </a:solidFill>
                <a:latin typeface="Calibri"/>
                <a:ea typeface="Calibri"/>
                <a:cs typeface="Calibri"/>
                <a:sym typeface="Calibri"/>
              </a:rPr>
              <a:t>Elaboração própria.</a:t>
            </a:r>
            <a:endParaRPr sz="1600">
              <a:solidFill>
                <a:srgbClr val="272F6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6639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b="1" lang="pt-BR"/>
              <a:t>index.js</a:t>
            </a:r>
            <a:endParaRPr b="1"/>
          </a:p>
          <a:p>
            <a:pPr indent="-36639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6667"/>
              <a:buChar char="○"/>
            </a:pPr>
            <a:r>
              <a:rPr lang="pt-BR"/>
              <a:t>Ponto de entrada do React (renderiza App no DOM).</a:t>
            </a:r>
            <a:endParaRPr/>
          </a:p>
          <a:p>
            <a:pPr indent="-36639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b="1" lang="pt-BR"/>
              <a:t>App.js</a:t>
            </a:r>
            <a:endParaRPr b="1"/>
          </a:p>
          <a:p>
            <a:pPr indent="-36639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6667"/>
              <a:buChar char="○"/>
            </a:pPr>
            <a:r>
              <a:rPr lang="pt-BR"/>
              <a:t>Componente raiz da aplicação (define a estrutura inicial).</a:t>
            </a:r>
            <a:endParaRPr/>
          </a:p>
          <a:p>
            <a:pPr indent="-36639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b="1" lang="pt-BR"/>
              <a:t>App.css</a:t>
            </a:r>
            <a:endParaRPr b="1"/>
          </a:p>
          <a:p>
            <a:pPr indent="-36639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6667"/>
              <a:buChar char="○"/>
            </a:pPr>
            <a:r>
              <a:rPr lang="pt-BR"/>
              <a:t>Estilos do componente App (pode usar CSS Modules/Styled Components).</a:t>
            </a:r>
            <a:endParaRPr/>
          </a:p>
          <a:p>
            <a:pPr indent="-36639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b="1" lang="pt-BR"/>
              <a:t>index.css</a:t>
            </a:r>
            <a:endParaRPr b="1"/>
          </a:p>
          <a:p>
            <a:pPr indent="-36639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6667"/>
              <a:buChar char="○"/>
            </a:pPr>
            <a:r>
              <a:rPr lang="pt-BR"/>
              <a:t>Estilos globais (afeta toda a aplicação).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3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 sz="2400"/>
              <a:t>Encontrar projetos modelos, desenvolvidos com um framework desejado, pode acelerar muito o desenvolvimento da aplicação. Muitas vezes não é necessário começar do zero, pois, a comunidade open source oferece centenas de projetos gratuitos, personalizáveis e com boas práticas de código.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 sz="2400"/>
              <a:t>Ferramentas para pesquisar projetos: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 sz="2400"/>
              <a:t>GitHub - </a:t>
            </a:r>
            <a:r>
              <a:rPr lang="pt-BR" sz="2400" u="sng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Repository search</a:t>
            </a:r>
            <a:r>
              <a:rPr lang="pt-BR" sz="2400"/>
              <a:t> *Utilizar o comando git clone &lt;url&gt;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 sz="2400"/>
              <a:t>Vercel - </a:t>
            </a:r>
            <a:r>
              <a:rPr lang="pt-BR" sz="2400" u="sng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Busca por Templates</a:t>
            </a:r>
            <a:r>
              <a:rPr lang="pt-BR" sz="2400"/>
              <a:t> *Fazer o download apenas de uma parte do repositório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 sz="2400"/>
              <a:t>CodeSandbox - </a:t>
            </a:r>
            <a:r>
              <a:rPr lang="pt-BR" sz="2400" u="sng">
                <a:solidFill>
                  <a:srgbClr val="0070C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Template Search</a:t>
            </a:r>
            <a:endParaRPr sz="2400"/>
          </a:p>
        </p:txBody>
      </p:sp>
      <p:sp>
        <p:nvSpPr>
          <p:cNvPr id="222" name="Google Shape;222;p23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Buscando Projetos por Frameworks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4800" y="1060907"/>
            <a:ext cx="10522406" cy="5203267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4"/>
          <p:cNvSpPr txBox="1"/>
          <p:nvPr/>
        </p:nvSpPr>
        <p:spPr>
          <a:xfrm>
            <a:off x="3251100" y="6356273"/>
            <a:ext cx="5689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272F6D"/>
                </a:solidFill>
                <a:latin typeface="Calibri"/>
                <a:ea typeface="Calibri"/>
                <a:cs typeface="Calibri"/>
                <a:sym typeface="Calibri"/>
              </a:rPr>
              <a:t>Fonte: </a:t>
            </a:r>
            <a:r>
              <a:rPr lang="pt-BR" sz="1600" u="sng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https://codesandbox.io/</a:t>
            </a:r>
            <a:endParaRPr sz="1600">
              <a:solidFill>
                <a:srgbClr val="272F6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ct val="73913"/>
              <a:buNone/>
            </a:pPr>
            <a:r>
              <a:rPr b="1" lang="pt-BR" sz="4600"/>
              <a:t>Atividade</a:t>
            </a:r>
            <a:endParaRPr b="1" sz="4600"/>
          </a:p>
        </p:txBody>
      </p:sp>
      <p:sp>
        <p:nvSpPr>
          <p:cNvPr id="235" name="Google Shape;235;p25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1. Pesquise um template de projeto desenvolvido em React, importe-o, faça as alterações e salve em um repositório no Github.</a:t>
            </a:r>
            <a:endParaRPr/>
          </a:p>
          <a:p>
            <a:pPr indent="0" lvl="0" marL="0" rtl="0" algn="just">
              <a:spcBef>
                <a:spcPts val="2100"/>
              </a:spcBef>
              <a:spcAft>
                <a:spcPts val="2100"/>
              </a:spcAft>
              <a:buNone/>
            </a:pPr>
            <a:r>
              <a:rPr lang="pt-BR"/>
              <a:t>2</a:t>
            </a:r>
            <a:r>
              <a:rPr lang="pt-BR"/>
              <a:t>. Em seguida, documente todas as etapas da atividade em um único arquivo, incluindo descrições, prints das telas, e os links dos repositórios no GitHub e do projeto na Vercel.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6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242" name="Google Shape;242;p26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5814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HUMBLE J; PRIKLANDNICKI R. Entrega Contínua: Como Entregar Software de Forma Rápida e Confiável. São Paulo: Bookman, 2013 </a:t>
            </a:r>
            <a:endParaRPr sz="2040"/>
          </a:p>
          <a:p>
            <a:pPr indent="-35814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MUNIZ, A.; et al. Jornada Devops: Unindo Cultura Ágil, Lean e Tecnologia Para Entrega De Software Com Qualidade. São Paulo: Brasport, 2019. </a:t>
            </a:r>
            <a:endParaRPr sz="2040"/>
          </a:p>
          <a:p>
            <a:pPr indent="-35814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SATO D. DevOps na prática: entrega de software confiável e automatizada. São Paulo: Casa do Código, 2014. </a:t>
            </a:r>
            <a:endParaRPr sz="2040"/>
          </a:p>
          <a:p>
            <a:pPr indent="-35814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SILVA, R. Entrega contínua em Android: Como automatizar a distribuição de apps. São Paulo: Casa do Código, 2016.</a:t>
            </a:r>
            <a:endParaRPr sz="2040"/>
          </a:p>
          <a:p>
            <a:pPr indent="-35814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ARUNDEL, J. DOMINGUS, J. DevOps nativo de nuvem com Kubernetes. São Paulo: Novatec, 2019.</a:t>
            </a:r>
            <a:endParaRPr sz="204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7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249" name="Google Shape;249;p27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5814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MORAES, G. Caixa de Ferramentas DevOps: Um guia para construção, administração e arquitetura de sistemas modernos. São Paulo: Casa do Código, 2015. </a:t>
            </a:r>
            <a:endParaRPr sz="2040"/>
          </a:p>
          <a:p>
            <a:pPr indent="-35814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PIRES, A.; MILITÃO, J. Integração Contínua com Jenkins. São Paulo: Casa do Código, 2019. </a:t>
            </a:r>
            <a:endParaRPr sz="2040"/>
          </a:p>
          <a:p>
            <a:pPr indent="-35814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VITALINO, J. F. N.; CASTRO, M. A. N. Descomplicando o Docker. 2 ed. São Paulo: Brasport, 2018. SILVERMAN, R. E. Git: guia prático. São Paulo: Novatec, 2019.</a:t>
            </a:r>
            <a:endParaRPr sz="2040"/>
          </a:p>
          <a:p>
            <a:pPr indent="-35814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KIM, G; HUMBLE, J; DEBOIS, P; WILLIS, J; Manual de DEVOPS: Como obter agilidade, confiabilidade e segurança em organizações tecnológicas. São Paulo: Starlin Alta Editora, 2018.</a:t>
            </a:r>
            <a:endParaRPr sz="2040"/>
          </a:p>
          <a:p>
            <a:pPr indent="0" lvl="0" marL="0" rtl="0" algn="just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t/>
            </a:r>
            <a:endParaRPr sz="204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8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202529"/>
                </a:solidFill>
              </a:rPr>
              <a:t>Gerência de Configuração</a:t>
            </a:r>
            <a:endParaRPr>
              <a:solidFill>
                <a:srgbClr val="202529"/>
              </a:solidFill>
            </a:endParaRPr>
          </a:p>
        </p:txBody>
      </p:sp>
      <p:sp>
        <p:nvSpPr>
          <p:cNvPr id="256" name="Google Shape;256;p28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Prof. Me. Deivison S. Takatu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deivison.takatu@fatec.sp.gov.br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Banded_Design_Teal">
      <a:dk1>
        <a:srgbClr val="363D3D"/>
      </a:dk1>
      <a:lt1>
        <a:srgbClr val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