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Raleway"/>
      <p:regular r:id="rId28"/>
      <p:bold r:id="rId29"/>
      <p:italic r:id="rId30"/>
      <p:boldItalic r:id="rId31"/>
    </p:embeddedFont>
    <p:embeddedFont>
      <p:font typeface="Roboto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Corbel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pos="6816">
          <p15:clr>
            <a:srgbClr val="A4A3A4"/>
          </p15:clr>
        </p15:guide>
        <p15:guide id="3" pos="816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6816"/>
        <p:guide pos="816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regular.fntdata"/><Relationship Id="rId20" Type="http://schemas.openxmlformats.org/officeDocument/2006/relationships/slide" Target="slides/slide14.xml"/><Relationship Id="rId42" Type="http://schemas.openxmlformats.org/officeDocument/2006/relationships/font" Target="fonts/Corbel-italic.fntdata"/><Relationship Id="rId41" Type="http://schemas.openxmlformats.org/officeDocument/2006/relationships/font" Target="fonts/Corbel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Corbel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aleway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-boldItalic.fntdata"/><Relationship Id="rId30" Type="http://schemas.openxmlformats.org/officeDocument/2006/relationships/font" Target="fonts/Raleway-italic.fntdata"/><Relationship Id="rId11" Type="http://schemas.openxmlformats.org/officeDocument/2006/relationships/slide" Target="slides/slide5.xml"/><Relationship Id="rId33" Type="http://schemas.openxmlformats.org/officeDocument/2006/relationships/font" Target="fonts/Roboto-bold.fntdata"/><Relationship Id="rId10" Type="http://schemas.openxmlformats.org/officeDocument/2006/relationships/slide" Target="slides/slide4.xml"/><Relationship Id="rId32" Type="http://schemas.openxmlformats.org/officeDocument/2006/relationships/font" Target="fonts/Roboto-regular.fntdata"/><Relationship Id="rId13" Type="http://schemas.openxmlformats.org/officeDocument/2006/relationships/slide" Target="slides/slide7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-italic.fntdata"/><Relationship Id="rId15" Type="http://schemas.openxmlformats.org/officeDocument/2006/relationships/slide" Target="slides/slide9.xml"/><Relationship Id="rId37" Type="http://schemas.openxmlformats.org/officeDocument/2006/relationships/font" Target="fonts/Lato-bold.fntdata"/><Relationship Id="rId14" Type="http://schemas.openxmlformats.org/officeDocument/2006/relationships/slide" Target="slides/slide8.xml"/><Relationship Id="rId36" Type="http://schemas.openxmlformats.org/officeDocument/2006/relationships/font" Target="fonts/Lato-regular.fntdata"/><Relationship Id="rId17" Type="http://schemas.openxmlformats.org/officeDocument/2006/relationships/slide" Target="slides/slide11.xml"/><Relationship Id="rId39" Type="http://schemas.openxmlformats.org/officeDocument/2006/relationships/font" Target="fonts/Lato-boldItalic.fntdata"/><Relationship Id="rId16" Type="http://schemas.openxmlformats.org/officeDocument/2006/relationships/slide" Target="slides/slide10.xml"/><Relationship Id="rId38" Type="http://schemas.openxmlformats.org/officeDocument/2006/relationships/font" Target="fonts/Lat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35b607eaf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35b607eaf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c35b607eaf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35701d7d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35701d7d6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c35701d7d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ea76ad9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6ea76ad9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6ea76ad9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6ea76ad9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6ea76ad9e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6ea76ad9e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6ea76ad9e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6ea76ad9e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6ea76ad9e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6ea76ad9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ea76ad9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6ea76ad9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6ea76ad9e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6ea76ad9e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6ea76ad9e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6ea76ad9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6ea76ad9e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6ea76ad9e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849ea8306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849ea8306_0_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f849ea8306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849ea8306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849ea8306_0_1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849ea8306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849ea8306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849ea8306_0_2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849ea8306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850164cc3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850164cc3_0_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f850164cc3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850164cc3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f850164cc3_0_2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f850164cc3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849ea8306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849ea8306_0_2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f849ea8306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6ea76ad9e_0_9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6ea76ad9e_0_92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f6ea76ad9e_0_9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35701d7d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c35701d7d6_0_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c35701d7d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661a119e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661a119ed_0_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f661a119e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6ea76ad9e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6ea76ad9e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f6ea76ad9e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" name="Google Shape;17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■"/>
              <a:defRPr sz="3200"/>
            </a:lvl6pPr>
            <a:lvl7pPr indent="-4318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●"/>
              <a:defRPr sz="3200"/>
            </a:lvl7pPr>
            <a:lvl8pPr indent="-4318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○"/>
              <a:defRPr sz="3200"/>
            </a:lvl8pPr>
            <a:lvl9pPr indent="-4318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rgbClr val="272F6D"/>
              </a:buClr>
              <a:buSzPts val="3200"/>
              <a:buChar char="■"/>
              <a:defRPr sz="32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7_0)">
  <p:cSld name="Título e corpo (g3f661a119ed_7_0)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14_0)">
  <p:cSld name="Título e corpo (g3f661a119ed_14_0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51" name="Google Shape;51;p8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78" name="Google Shape;78;p1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9" name="Google Shape;79;p1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77311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865613"/>
            <a:ext cx="11360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hyperlink" Target="https://github.com/deivisontakatu/projeto-pipeline-testes/commits/main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mdpi.com/1999-5903/17/4/153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Ferramentas de Integração e Entrega Contínua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96" name="Google Shape;96;p19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Sumário</a:t>
            </a:r>
            <a:endParaRPr b="1"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DevOps e CI/CD;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Ferramentas de CI/CD;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GitHub Actions;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Entregas de Software e Automação;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Pipelines no Github Action;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Atividade Prática.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DevOps: O Ciclo Infinito do Desenvolvimento Moderno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415600" y="1536633"/>
            <a:ext cx="45789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20000"/>
          </a:bodyPr>
          <a:lstStyle/>
          <a:p>
            <a:pPr indent="60960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DevOps é uma cultura, filosofia e conjunto de práticas que integra as equipes de Desenvolvimento (DEV) e Operações (OPS), eliminando silos organizacionais e acelerando a entrega de software com qualidade e confiabilidade.</a:t>
            </a:r>
            <a:endParaRPr/>
          </a:p>
        </p:txBody>
      </p:sp>
      <p:pic>
        <p:nvPicPr>
          <p:cNvPr id="110" name="Google Shape;110;p21" title="DevOp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2400" y="1356967"/>
            <a:ext cx="7339600" cy="47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PLAN - Planejamento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10000"/>
          </a:bodyPr>
          <a:lstStyle/>
          <a:p>
            <a:pPr indent="6096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pt-BR"/>
              <a:t>O planejamento é o ponto de partida do loop infinito. Nesta etapa, as equipes definem o que será desenvolvido, como e quando, utilizando metodologias ágeis para organizar prioridades, distribuir tarefas e alinhar expectativas entre produto, desenvolvimento e operações.</a:t>
            </a:r>
            <a:endParaRPr/>
          </a:p>
          <a:p>
            <a:pPr indent="-457200" lvl="0" marL="609600" rtl="0" algn="just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Jira Gestão de projetos ágeis com sprints, roadmaps e rastreabilidade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Trello Quadros Kanban visuais para equipes menores e gestão de tarefas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Azure Boards Planejamento integrado ao ecossistema Microsoft Azure DevOps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CODE - Codificação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10000"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 etapa de codificação é onde as ideias planejadas ganham forma técnica. Nesta fase, os desenvolvedores escrevem, revisam e versionam o código-fonte de forma colaborativa, garantindo rastreabilidade, segurança e qualidade desde o início.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Boas Práticas de Codificação no DevOps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Escrever código limpo e legível 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Utilizar ferramentas de desenvolvimentos (IDEs)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Manter testes 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Documentar o projeto.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BUILD - Compilação e Build Automatizado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 etapa de Build transforma o código-fonte em um artefato executável — um arquivo JAR, imagem Docker, pacote NPM ou binário — pronto para ser testado e implantado. A automação deste processo elimina erros humanos e garante builds consistentes e reproduzíveis. Etapas: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Compilação: transformação do código-fonte em bytecode ou binário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Resolução de dependências: download automático de bibliotecas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Empacotamento: geração de JAR, WAR, ZIP, imagem Docker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Análise estática: verificação de qualidade de código (SonarQube)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Publicação de artefato: versionamento e armazenamento seguro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TEST - Testes Automatizados e Qualidade de Software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Testes automatizados são o guardião da qualidade no ciclo DevOps. Ao integrar testes diretamente no pipeline de CI/CD, problemas são detectados rapidamente - antes de chegarem ao usuário final. O objetivo é garantir que cada build seja confiável, funcional e seguro.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pt-BR"/>
              <a:t>Exemplo</a:t>
            </a:r>
            <a:r>
              <a:rPr lang="pt-BR"/>
              <a:t>: Uma plataforma de delivery executa +3.000 testes automatizados a cada novo deploy. O pipeline válida: cálculo de frete, processamento de pagamentos, notificações push e fluxo completo de pedido - tudo em menos de 8 minutos, sem intervenção humana.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RELEASE - Liberação e Controle de Versões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 etapa de Release é o ponto de decisão no pipeline DevOps: o software foi desenvolvido, compilado e testado - agora precisa ser aprovado, versionado e preparado para produção. É o momento em que qualidade e governança garantem que apenas código confiável avança.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No Release, o artefato gerado no Build recebe um número de versão semântica (ex: v2.4.1) seguindo o padrão Major.Minor.Patch. Gates de qualidade (Quality Gates) verificam cobertura de testes, análise de segurança e aprovação manual de stakeholders antes de avançar.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DEPLOY - Implantação Automatizada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20000"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O Deploy é o momento em que o software aprovado é implantado nos ambientes de produção de forma automatizada, rápida e confiável. Com a cultura DevOps, implantações que antes levavam dias agora acontecem em minutos — com risco reduzido e reversão automática em caso de falha.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pt-BR"/>
              <a:t>Exemplo</a:t>
            </a:r>
            <a:r>
              <a:rPr lang="pt-BR"/>
              <a:t>: Uma empresa de streaming possui 47 microsserviços independentes. Com Kubernetes no AWS EKS, cada serviço é implantado automaticamente via pipeline GitLab: a imagem Docker é construída, publicada no ECR (registry AWS) e o Kubernetes atualiza os pods em rolling update — sem downtime e com rollback automático se o health check falhar.;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OPERATE - Operação e Gestão de Infraestrutura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2500" lnSpcReduction="20000"/>
          </a:bodyPr>
          <a:lstStyle/>
          <a:p>
            <a:pPr indent="-445770" lvl="0" marL="6096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Garante que a aplicação em produção permaneça estável, disponível e escalável. Com práticas de automação operacional, as equipes de Ops deixam de apagar incêndios manualmente e passam a gerenciar infraestrutura como código, respondendo proativamente a mudanças de demanda.</a:t>
            </a:r>
            <a:endParaRPr/>
          </a:p>
          <a:p>
            <a:pPr indent="-445770" lvl="0" marL="6096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BR"/>
              <a:t>Exemplo</a:t>
            </a:r>
            <a:r>
              <a:rPr lang="pt-BR"/>
              <a:t>: Uma plataforma de streaming como o modelo Netflix opera com milhares de servidores globais. Durante horários de pico (novelas, jogos ao vivo), o Kubernetes aumenta automaticamente o número de réplicas dos serviços de transcodificação e entrega de conteúdo. O balanceamento de carga distribui requisições entre instâncias saudáveis, enquanto o Ansible garante configurações uniformes em todos os nós.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MONITOR - Observabilidade e Monitoramento Contínuo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Monitoramento fecha o loop infinito do DevOps. É a etapa onde a equipe obtém visibilidade total do sistema em produção - coletando métricas, logs e traces para detectar anomalias, entender comportamentos e alimentar o próximo ciclo de planejamento com dados reais.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9"/>
          <p:cNvSpPr/>
          <p:nvPr/>
        </p:nvSpPr>
        <p:spPr>
          <a:xfrm>
            <a:off x="4846367" y="3715233"/>
            <a:ext cx="3402900" cy="1525200"/>
          </a:xfrm>
          <a:prstGeom prst="roundRect">
            <a:avLst>
              <a:gd fmla="val 4994" name="adj"/>
            </a:avLst>
          </a:prstGeom>
          <a:solidFill>
            <a:srgbClr val="E1E1EA"/>
          </a:solidFill>
          <a:ln cap="flat" cmpd="sng" w="202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4425" lIns="194425" spcFirstLastPara="1" rIns="194425" wrap="square" tIns="194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60" name="Google Shape;160;p29"/>
          <p:cNvSpPr/>
          <p:nvPr/>
        </p:nvSpPr>
        <p:spPr>
          <a:xfrm>
            <a:off x="5057702" y="3926570"/>
            <a:ext cx="25020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Raleway"/>
              <a:buNone/>
            </a:pPr>
            <a:r>
              <a:rPr i="0" lang="pt-BR" sz="1900" u="none" cap="none" strike="noStrike">
                <a:solidFill>
                  <a:srgbClr val="000000"/>
                </a:solidFill>
              </a:rPr>
              <a:t>📊</a:t>
            </a:r>
            <a:r>
              <a:rPr i="0" lang="pt-BR" sz="1900" u="none" cap="none" strike="noStrike">
                <a:solidFill>
                  <a:srgbClr val="3C3939"/>
                </a:solidFill>
              </a:rPr>
              <a:t> Métricas</a:t>
            </a:r>
            <a:endParaRPr i="0" sz="1900" u="none" cap="none" strike="noStrike"/>
          </a:p>
        </p:txBody>
      </p:sp>
      <p:sp>
        <p:nvSpPr>
          <p:cNvPr id="161" name="Google Shape;161;p29"/>
          <p:cNvSpPr/>
          <p:nvPr/>
        </p:nvSpPr>
        <p:spPr>
          <a:xfrm>
            <a:off x="5037867" y="4314743"/>
            <a:ext cx="30195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i="0" lang="pt-BR" sz="1400" u="none" cap="none" strike="noStrike">
                <a:solidFill>
                  <a:srgbClr val="3C3939"/>
                </a:solidFill>
              </a:rPr>
              <a:t>Dados numéricos sobre o estado do sistema: CPU, memória, latência, taxa de erro, requisições/segundo</a:t>
            </a:r>
            <a:endParaRPr i="0" sz="1400" u="none" cap="none" strike="noStrike"/>
          </a:p>
        </p:txBody>
      </p:sp>
      <p:sp>
        <p:nvSpPr>
          <p:cNvPr id="162" name="Google Shape;162;p29"/>
          <p:cNvSpPr/>
          <p:nvPr/>
        </p:nvSpPr>
        <p:spPr>
          <a:xfrm>
            <a:off x="8373606" y="3715233"/>
            <a:ext cx="3402900" cy="1525200"/>
          </a:xfrm>
          <a:prstGeom prst="roundRect">
            <a:avLst>
              <a:gd fmla="val 4994" name="adj"/>
            </a:avLst>
          </a:prstGeom>
          <a:solidFill>
            <a:srgbClr val="E1E1EA"/>
          </a:solidFill>
          <a:ln cap="flat" cmpd="sng" w="202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4425" lIns="194425" spcFirstLastPara="1" rIns="194425" wrap="square" tIns="194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63" name="Google Shape;163;p29"/>
          <p:cNvSpPr/>
          <p:nvPr/>
        </p:nvSpPr>
        <p:spPr>
          <a:xfrm>
            <a:off x="8950312" y="3926570"/>
            <a:ext cx="25020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Raleway"/>
              <a:buNone/>
            </a:pPr>
            <a:r>
              <a:rPr i="0" lang="pt-BR" sz="1900" u="none" cap="none" strike="noStrike">
                <a:solidFill>
                  <a:srgbClr val="000000"/>
                </a:solidFill>
              </a:rPr>
              <a:t>📝</a:t>
            </a:r>
            <a:r>
              <a:rPr i="0" lang="pt-BR" sz="1900" u="none" cap="none" strike="noStrike">
                <a:solidFill>
                  <a:srgbClr val="3C3939"/>
                </a:solidFill>
              </a:rPr>
              <a:t> Logs</a:t>
            </a:r>
            <a:endParaRPr i="0" sz="1900" u="none" cap="none" strike="noStrike"/>
          </a:p>
        </p:txBody>
      </p:sp>
      <p:sp>
        <p:nvSpPr>
          <p:cNvPr id="164" name="Google Shape;164;p29"/>
          <p:cNvSpPr/>
          <p:nvPr/>
        </p:nvSpPr>
        <p:spPr>
          <a:xfrm>
            <a:off x="8565106" y="4314743"/>
            <a:ext cx="30195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i="0" lang="pt-BR" sz="1400" u="none" cap="none" strike="noStrike">
                <a:solidFill>
                  <a:srgbClr val="3C3939"/>
                </a:solidFill>
              </a:rPr>
              <a:t>Registros textuais de eventos do sistema: erros, transações, autenticações e ações de usuários</a:t>
            </a:r>
            <a:endParaRPr i="0" sz="1400" u="none" cap="none" strike="noStrike"/>
          </a:p>
        </p:txBody>
      </p:sp>
      <p:sp>
        <p:nvSpPr>
          <p:cNvPr id="165" name="Google Shape;165;p29"/>
          <p:cNvSpPr/>
          <p:nvPr/>
        </p:nvSpPr>
        <p:spPr>
          <a:xfrm>
            <a:off x="4846367" y="5365312"/>
            <a:ext cx="6929700" cy="1280400"/>
          </a:xfrm>
          <a:prstGeom prst="roundRect">
            <a:avLst>
              <a:gd fmla="val 5948" name="adj"/>
            </a:avLst>
          </a:prstGeom>
          <a:solidFill>
            <a:srgbClr val="E1E1EA"/>
          </a:solidFill>
          <a:ln cap="flat" cmpd="sng" w="202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4425" lIns="194425" spcFirstLastPara="1" rIns="194425" wrap="square" tIns="194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66" name="Google Shape;166;p29"/>
          <p:cNvSpPr/>
          <p:nvPr/>
        </p:nvSpPr>
        <p:spPr>
          <a:xfrm>
            <a:off x="5037867" y="5556813"/>
            <a:ext cx="226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None/>
            </a:pPr>
            <a:r>
              <a:rPr i="0" lang="pt-BR" sz="1700" u="none" cap="none" strike="noStrike">
                <a:solidFill>
                  <a:srgbClr val="000000"/>
                </a:solidFill>
              </a:rPr>
              <a:t>🔍</a:t>
            </a:r>
            <a:r>
              <a:rPr i="0" lang="pt-BR" sz="1700" u="none" cap="none" strike="noStrike">
                <a:solidFill>
                  <a:srgbClr val="3C3939"/>
                </a:solidFill>
              </a:rPr>
              <a:t> Traces</a:t>
            </a:r>
            <a:endParaRPr i="0" sz="1700" u="none" cap="none" strike="noStrike"/>
          </a:p>
        </p:txBody>
      </p:sp>
      <p:sp>
        <p:nvSpPr>
          <p:cNvPr id="167" name="Google Shape;167;p29"/>
          <p:cNvSpPr/>
          <p:nvPr/>
        </p:nvSpPr>
        <p:spPr>
          <a:xfrm>
            <a:off x="5037867" y="5964821"/>
            <a:ext cx="65472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i="0" lang="pt-BR" sz="1400" u="none" cap="none" strike="noStrike">
                <a:solidFill>
                  <a:srgbClr val="3C3939"/>
                </a:solidFill>
              </a:rPr>
              <a:t>Rastreamento do caminho de uma requisição através de todos os serviços envolvidos no processamento</a:t>
            </a:r>
            <a:endParaRPr i="0" sz="140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2100"/>
              </a:spcAft>
              <a:buNone/>
            </a:pPr>
            <a:r>
              <a:rPr lang="pt-BR" sz="2700"/>
              <a:t>As ferramentas de CI/CD automatizam diferentes partes do processo de desenvolvimento, integração, teste e entrega de software, permitindo executar tarefas de forma padronizada,</a:t>
            </a:r>
            <a:r>
              <a:rPr lang="pt-BR" sz="2700"/>
              <a:t> </a:t>
            </a:r>
            <a:r>
              <a:rPr lang="pt-BR" sz="2700"/>
              <a:t>repetível e com menor intervenção manual.</a:t>
            </a:r>
            <a:endParaRPr sz="2700"/>
          </a:p>
        </p:txBody>
      </p:sp>
      <p:sp>
        <p:nvSpPr>
          <p:cNvPr id="174" name="Google Shape;174;p3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Ferramentas de CI/CD</a:t>
            </a: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7520" l="0" r="0" t="20590"/>
          <a:stretch/>
        </p:blipFill>
        <p:spPr>
          <a:xfrm>
            <a:off x="3375549" y="3968102"/>
            <a:ext cx="5440901" cy="237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0"/>
          <p:cNvSpPr txBox="1"/>
          <p:nvPr/>
        </p:nvSpPr>
        <p:spPr>
          <a:xfrm>
            <a:off x="2868750" y="6338877"/>
            <a:ext cx="645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accent1"/>
                </a:solidFill>
              </a:rPr>
              <a:t>Fonte</a:t>
            </a:r>
            <a:r>
              <a:rPr lang="pt-BR" sz="1600">
                <a:solidFill>
                  <a:schemeClr val="accent1"/>
                </a:solidFill>
              </a:rPr>
              <a:t>: axify.io</a:t>
            </a:r>
            <a:endParaRPr sz="1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Integrar alterações de código automaticamente;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Compilar e gerar versões do sistema;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Executar testes automatizados;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Verificar qualidade e segurança do código;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Gerar e armazenar artefatos;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Controlar versões e releases;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Realizar deploy em diferentes ambientes;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Monitorar resultados e identificar falhas;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Integrar diferentes ferramentas e serviços do projeto.</a:t>
            </a:r>
            <a:endParaRPr sz="2200"/>
          </a:p>
        </p:txBody>
      </p:sp>
      <p:sp>
        <p:nvSpPr>
          <p:cNvPr id="183" name="Google Shape;183;p3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Ferramentas de CI/CD - Utilidades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/>
              <a:t>É uma plataforma de automação integrada ao GitHub, permitindo criar e executar fluxos de trabalho diretamente associados aos repositórios de código.</a:t>
            </a:r>
            <a:endParaRPr sz="3100"/>
          </a:p>
          <a:p>
            <a:pPr indent="45720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 sz="3100"/>
              <a:t>Os workflows podem ser configurados de acordo com eventos do repositório, como push, pull request, criação de tags ou releases.</a:t>
            </a:r>
            <a:endParaRPr sz="3100"/>
          </a:p>
        </p:txBody>
      </p:sp>
      <p:sp>
        <p:nvSpPr>
          <p:cNvPr id="190" name="Google Shape;190;p3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GitHub Actions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Entregas de Software e Automação</a:t>
            </a:r>
            <a:endParaRPr/>
          </a:p>
        </p:txBody>
      </p:sp>
      <p:grpSp>
        <p:nvGrpSpPr>
          <p:cNvPr id="197" name="Google Shape;197;p33"/>
          <p:cNvGrpSpPr/>
          <p:nvPr/>
        </p:nvGrpSpPr>
        <p:grpSpPr>
          <a:xfrm>
            <a:off x="830164" y="1836992"/>
            <a:ext cx="5146498" cy="1795413"/>
            <a:chOff x="4667250" y="952500"/>
            <a:chExt cx="4095900" cy="1428900"/>
          </a:xfrm>
        </p:grpSpPr>
        <p:sp>
          <p:nvSpPr>
            <p:cNvPr id="198" name="Google Shape;198;p33"/>
            <p:cNvSpPr/>
            <p:nvPr/>
          </p:nvSpPr>
          <p:spPr>
            <a:xfrm>
              <a:off x="4667250" y="952500"/>
              <a:ext cx="40959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33"/>
            <p:cNvSpPr txBox="1"/>
            <p:nvPr/>
          </p:nvSpPr>
          <p:spPr>
            <a:xfrm>
              <a:off x="4857750" y="109537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62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DevOps</a:t>
              </a:r>
              <a:endParaRPr b="1" sz="2062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574465" lvl="0" marL="0" rtl="0" algn="just">
                <a:lnSpc>
                  <a:spcPct val="115000"/>
                </a:lnSpc>
                <a:spcBef>
                  <a:spcPts val="754"/>
                </a:spcBef>
                <a:spcAft>
                  <a:spcPts val="0"/>
                </a:spcAft>
                <a:buNone/>
              </a:pPr>
              <a:r>
                <a:rPr lang="pt-BR" sz="1559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Integra desenvolvimento, testes e operações por meio da automação, acelerando entregas de software com maior qualidade, estabilidade e redução de falhas.</a:t>
              </a:r>
              <a:endParaRPr i="1" sz="1559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33"/>
          <p:cNvGrpSpPr/>
          <p:nvPr/>
        </p:nvGrpSpPr>
        <p:grpSpPr>
          <a:xfrm>
            <a:off x="829918" y="4001987"/>
            <a:ext cx="10532171" cy="2154269"/>
            <a:chOff x="381000" y="2571750"/>
            <a:chExt cx="8382150" cy="1714500"/>
          </a:xfrm>
        </p:grpSpPr>
        <p:sp>
          <p:nvSpPr>
            <p:cNvPr id="201" name="Google Shape;201;p33"/>
            <p:cNvSpPr/>
            <p:nvPr/>
          </p:nvSpPr>
          <p:spPr>
            <a:xfrm>
              <a:off x="381000" y="2571750"/>
              <a:ext cx="8382000" cy="1714500"/>
            </a:xfrm>
            <a:prstGeom prst="roundRect">
              <a:avLst>
                <a:gd fmla="val 5555" name="adj"/>
              </a:avLst>
            </a:prstGeom>
            <a:solidFill>
              <a:srgbClr val="2025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33"/>
            <p:cNvSpPr txBox="1"/>
            <p:nvPr/>
          </p:nvSpPr>
          <p:spPr>
            <a:xfrm>
              <a:off x="762000" y="2762245"/>
              <a:ext cx="4095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262">
                  <a:solidFill>
                    <a:srgbClr val="F3F3F3"/>
                  </a:solidFill>
                </a:rPr>
                <a:t>O Papel das Pipelines</a:t>
              </a:r>
              <a:endParaRPr b="1" sz="2262">
                <a:solidFill>
                  <a:srgbClr val="F3F3F3"/>
                </a:solidFill>
              </a:endParaRPr>
            </a:p>
            <a:p>
              <a:pPr indent="574465" lvl="0" marL="0" rtl="0" algn="just">
                <a:spcBef>
                  <a:spcPts val="942"/>
                </a:spcBef>
                <a:spcAft>
                  <a:spcPts val="0"/>
                </a:spcAft>
                <a:buNone/>
              </a:pPr>
              <a:r>
                <a:rPr lang="pt-BR" sz="1508">
                  <a:solidFill>
                    <a:srgbClr val="F3F3F3"/>
                  </a:solidFill>
                </a:rPr>
                <a:t>As pipelines de CI tornaram-se fundamentais no desenvolvimento moderno, automatizando validações e garantindo qualidade contínua durante todo o ciclo de entrega.</a:t>
              </a:r>
              <a:endParaRPr sz="1508">
                <a:solidFill>
                  <a:srgbClr val="F3F3F3"/>
                </a:solidFill>
              </a:endParaRPr>
            </a:p>
          </p:txBody>
        </p:sp>
        <p:pic>
          <p:nvPicPr>
            <p:cNvPr descr="A high-tech digital visualization of a software delivery pipeline with glowing nodes and connecting lines, professional corporate style, dark theme." id="203" name="Google Shape;203;p33"/>
            <p:cNvPicPr preferRelativeResize="0"/>
            <p:nvPr/>
          </p:nvPicPr>
          <p:blipFill rotWithShape="1">
            <a:blip r:embed="rId3">
              <a:alphaModFix/>
            </a:blip>
            <a:srcRect b="4288" l="0" r="0" t="4288"/>
            <a:stretch/>
          </p:blipFill>
          <p:spPr>
            <a:xfrm>
              <a:off x="5429250" y="2571750"/>
              <a:ext cx="3333900" cy="1714500"/>
            </a:xfrm>
            <a:prstGeom prst="roundRect">
              <a:avLst>
                <a:gd fmla="val 5555" name="adj"/>
              </a:avLst>
            </a:prstGeom>
            <a:noFill/>
            <a:ln>
              <a:noFill/>
            </a:ln>
          </p:spPr>
        </p:pic>
      </p:grpSp>
      <p:sp>
        <p:nvSpPr>
          <p:cNvPr id="204" name="Google Shape;204;p33"/>
          <p:cNvSpPr txBox="1"/>
          <p:nvPr/>
        </p:nvSpPr>
        <p:spPr>
          <a:xfrm>
            <a:off x="830007" y="6156181"/>
            <a:ext cx="105318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559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“Pipelines promovem qualidade contínua ao longo de todo o processo de entrega” SATO (2014).</a:t>
            </a:r>
            <a:endParaRPr i="1" sz="1559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5" name="Google Shape;205;p33"/>
          <p:cNvGrpSpPr/>
          <p:nvPr/>
        </p:nvGrpSpPr>
        <p:grpSpPr>
          <a:xfrm>
            <a:off x="6215591" y="1837008"/>
            <a:ext cx="5146498" cy="1795413"/>
            <a:chOff x="4667250" y="952500"/>
            <a:chExt cx="4095900" cy="1428900"/>
          </a:xfrm>
        </p:grpSpPr>
        <p:sp>
          <p:nvSpPr>
            <p:cNvPr id="206" name="Google Shape;206;p33"/>
            <p:cNvSpPr/>
            <p:nvPr/>
          </p:nvSpPr>
          <p:spPr>
            <a:xfrm>
              <a:off x="4667250" y="952500"/>
              <a:ext cx="40959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3"/>
            <p:cNvSpPr txBox="1"/>
            <p:nvPr/>
          </p:nvSpPr>
          <p:spPr>
            <a:xfrm>
              <a:off x="4857750" y="109537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62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Definição de Pipeline</a:t>
              </a:r>
              <a:endParaRPr b="1" sz="2062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574465" lvl="0" marL="0" rtl="0" algn="just">
                <a:lnSpc>
                  <a:spcPct val="115000"/>
                </a:lnSpc>
                <a:spcBef>
                  <a:spcPts val="754"/>
                </a:spcBef>
                <a:spcAft>
                  <a:spcPts val="0"/>
                </a:spcAft>
                <a:buNone/>
              </a:pPr>
              <a:r>
                <a:rPr lang="pt-BR" sz="1559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Sequência automatizada de estágios responsável por conduzir o software desde o commit até o deploy de forma confiável.</a:t>
              </a:r>
              <a:endParaRPr sz="1559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754"/>
                </a:spcBef>
                <a:spcAft>
                  <a:spcPts val="0"/>
                </a:spcAft>
                <a:buNone/>
              </a:pPr>
              <a:r>
                <a:rPr i="1" lang="pt-BR" sz="1559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Humble e Priklandnicki (2013).</a:t>
              </a:r>
              <a:endParaRPr i="1" sz="1559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4"/>
          <p:cNvPicPr preferRelativeResize="0"/>
          <p:nvPr/>
        </p:nvPicPr>
        <p:blipFill rotWithShape="1">
          <a:blip r:embed="rId3">
            <a:alphaModFix/>
          </a:blip>
          <a:srcRect b="0" l="0" r="0" t="4288"/>
          <a:stretch/>
        </p:blipFill>
        <p:spPr>
          <a:xfrm>
            <a:off x="1658700" y="770851"/>
            <a:ext cx="8874600" cy="547313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4"/>
          <p:cNvSpPr txBox="1"/>
          <p:nvPr/>
        </p:nvSpPr>
        <p:spPr>
          <a:xfrm>
            <a:off x="3009898" y="6243983"/>
            <a:ext cx="61722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4750" lIns="124750" spcFirstLastPara="1" rIns="124750" wrap="square" tIns="1247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38">
                <a:solidFill>
                  <a:srgbClr val="595959"/>
                </a:solidFill>
              </a:rPr>
              <a:t>Fonte</a:t>
            </a:r>
            <a:r>
              <a:rPr lang="pt-BR" sz="1638">
                <a:solidFill>
                  <a:srgbClr val="595959"/>
                </a:solidFill>
              </a:rPr>
              <a:t>: </a:t>
            </a:r>
            <a:r>
              <a:rPr lang="pt-BR" sz="1638" u="sng">
                <a:solidFill>
                  <a:schemeClr val="hlink"/>
                </a:solidFill>
                <a:hlinkClick r:id="rId4"/>
              </a:rPr>
              <a:t>Elaborado pelo autor</a:t>
            </a:r>
            <a:r>
              <a:rPr lang="pt-BR" sz="1638">
                <a:solidFill>
                  <a:srgbClr val="595959"/>
                </a:solidFill>
              </a:rPr>
              <a:t>.</a:t>
            </a:r>
            <a:endParaRPr sz="1638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2100"/>
              </a:spcAft>
              <a:buNone/>
            </a:pPr>
            <a:r>
              <a:rPr lang="pt-BR" sz="2800"/>
              <a:t>Analisem e comparem diferentes ferramentas utilizadas em processos de Integração Contínua (CI) e Entrega/Implantação Contínua (CD), identificando suas características, vantagens, limitações e situações em que cada ferramenta pode ser mais adequada. A atividade será baseada no artigo: </a:t>
            </a:r>
            <a:r>
              <a:rPr lang="pt-BR" sz="2800" u="sng">
                <a:solidFill>
                  <a:schemeClr val="hlink"/>
                </a:solidFill>
                <a:hlinkClick r:id="rId3"/>
              </a:rPr>
              <a:t>MANOLOV, Vladislav; GOTSEVA, Daniela; HINOV, Nikolay. Practical Comparison Between the CI/CD Platforms Azure DevOps and GitHub. Future Internet, v. 17, n. 4, 2025, p. 153.</a:t>
            </a:r>
            <a:endParaRPr sz="2800"/>
          </a:p>
        </p:txBody>
      </p:sp>
      <p:sp>
        <p:nvSpPr>
          <p:cNvPr id="221" name="Google Shape;221;p3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2100"/>
              </a:spcAft>
              <a:buNone/>
            </a:pPr>
            <a:r>
              <a:rPr lang="pt-BR" sz="3000"/>
              <a:t>Identifiquem todas as ferramentas citadas pelos autores, realizem uma análise comparativa entre as ferramentas ou plataformas relacionadas a CI/CD, investigando suas características, funcionalidades, vantagens, limitações e principais diferenças. Considerem aspectos relevantes para a utilização dessas ferramentas em processos de Integração Contínua, Entrega Contínua.</a:t>
            </a:r>
            <a:endParaRPr sz="3000"/>
          </a:p>
        </p:txBody>
      </p:sp>
      <p:sp>
        <p:nvSpPr>
          <p:cNvPr id="228" name="Google Shape;228;p3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35" name="Google Shape;235;p3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HUMBLE J; PRIKLANDNICKI R. Entrega Contínua: Como Entregar Software de Forma Rápida e Confiável. São Paulo: Bookman, 2013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MUNIZ, A.; et al. Jornada Devops: Unindo Cultura Ágil, Lean e Tecnologia Para Entrega De Software Com Qualidade. São Paulo: Brasport,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SATO D. DevOps na prática: entrega de software confiável e automatizada. São Paulo: Casa do Código, 2014.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SILVA, R. Entrega contínua em Android: Como automatizar a distribuição de apps. São Paulo: Casa do Código, 2016.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ARUNDEL, J. DOMINGUS, J. DevOps nativo de nuvem com Kubernetes. São Paulo: Novatec, 2019.</a:t>
            </a:r>
            <a:endParaRPr sz="204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42" name="Google Shape;242;p3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MORAES, G. Caixa de Ferramentas DevOps: Um guia para construção, administração e arquitetura de sistemas modernos. São Paulo: Casa do Código, 2015.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PIRES, A.; MILITÃO, J. Integração Contínua com Jenkins. São Paulo: Casa do Código,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VITALINO, J. F. N.; CASTRO, M. A. N. Descomplicando o Docker. 2 ed. São Paulo: Brasport, 2018. SILVERMAN, R. E. Git: guia prático. São Paulo: Novatec, 2019.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KIM, G; HUMBLE, J; DEBOIS, P; WILLIS, J; Manual de DEVOPS: Como obter agilidade, confiabilidade e segurança em organizações tecnológicas. São Paulo: Starlin Alta Editora, 2018.</a:t>
            </a:r>
            <a:endParaRPr sz="2040"/>
          </a:p>
          <a:p>
            <a:pPr indent="0" lvl="0" marL="0" rtl="0" algn="just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04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Ferramentas de Integração e Entrega Contínua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249" name="Google Shape;249;p39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